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927" r:id="rId4"/>
  </p:sldMasterIdLst>
  <p:notesMasterIdLst>
    <p:notesMasterId r:id="rId21"/>
  </p:notesMasterIdLst>
  <p:sldIdLst>
    <p:sldId id="256" r:id="rId5"/>
    <p:sldId id="269" r:id="rId6"/>
    <p:sldId id="259" r:id="rId7"/>
    <p:sldId id="266" r:id="rId8"/>
    <p:sldId id="260" r:id="rId9"/>
    <p:sldId id="262" r:id="rId10"/>
    <p:sldId id="261" r:id="rId11"/>
    <p:sldId id="263" r:id="rId12"/>
    <p:sldId id="264" r:id="rId13"/>
    <p:sldId id="265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D4D4D4"/>
    <a:srgbClr val="0000FF"/>
    <a:srgbClr val="9EDCF8"/>
    <a:srgbClr val="99CCFF"/>
    <a:srgbClr val="353EAB"/>
    <a:srgbClr val="1F13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9C6F9-8BB2-43FC-B833-03781BF3585D}" v="1" dt="2026-05-19T13:09:43.2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Stil mediu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Fără stil, grilă tabel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16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3CCD3D-2CAC-46AC-ABB8-0FDC76571CDF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40F9E-F843-4F8B-B3DA-CBB122884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910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540F9E-F843-4F8B-B3DA-CBB1228841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485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B6FBF7D-DB86-4986-A405-59AC8A128E03}"/>
              </a:ext>
            </a:extLst>
          </p:cNvPr>
          <p:cNvSpPr/>
          <p:nvPr userDrawn="1"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rgbClr val="1F1355"/>
          </a:solidFill>
          <a:ln>
            <a:solidFill>
              <a:srgbClr val="1F1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0F5F8E-FC7F-409C-903B-8D12AE73B4AC}" type="datetime1">
              <a:rPr lang="en-US" smtClean="0"/>
              <a:t>6/13/2026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183499-2AE2-D1E8-1CBC-EEA72DC9ACA7}"/>
              </a:ext>
            </a:extLst>
          </p:cNvPr>
          <p:cNvGrpSpPr/>
          <p:nvPr userDrawn="1"/>
        </p:nvGrpSpPr>
        <p:grpSpPr>
          <a:xfrm>
            <a:off x="91407" y="1"/>
            <a:ext cx="8707631" cy="962951"/>
            <a:chOff x="91407" y="1"/>
            <a:chExt cx="8707631" cy="9629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D2EC30-883D-E5FF-6020-64BE8AE65A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738100" y="48552"/>
              <a:ext cx="1060938" cy="914400"/>
            </a:xfrm>
            <a:prstGeom prst="rect">
              <a:avLst/>
            </a:prstGeom>
          </p:spPr>
        </p:pic>
        <p:pic>
          <p:nvPicPr>
            <p:cNvPr id="12" name="Picture 11" descr="A logo with black text&#10;&#10;AI-generated content may be incorrect.">
              <a:extLst>
                <a:ext uri="{FF2B5EF4-FFF2-40B4-BE49-F238E27FC236}">
                  <a16:creationId xmlns:a16="http://schemas.microsoft.com/office/drawing/2014/main" id="{7E37CF6A-7CAA-14E2-0F06-7E4CA3C77D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1407" y="48552"/>
              <a:ext cx="1195322" cy="9144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FBC991C-D0BB-1BCD-F067-754F6F6818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576680" y="1"/>
              <a:ext cx="1674055" cy="914400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9F0EF0D-2C21-4F0C-1873-1A6DA48D821E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916683" y="962952"/>
            <a:ext cx="4965234" cy="11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591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B6FBF7D-DB86-4986-A405-59AC8A128E03}"/>
              </a:ext>
            </a:extLst>
          </p:cNvPr>
          <p:cNvSpPr/>
          <p:nvPr userDrawn="1"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rgbClr val="353EAB"/>
          </a:solidFill>
          <a:ln>
            <a:solidFill>
              <a:srgbClr val="353EA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rgbClr val="1F1355"/>
          </a:solidFill>
          <a:ln>
            <a:solidFill>
              <a:srgbClr val="1F1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1736" y="1021938"/>
            <a:ext cx="7543800" cy="384052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1"/>
            </a:lvl1pPr>
          </a:lstStyle>
          <a:p>
            <a:fld id="{0C2932F5-3A43-45A4-941F-884BA3AD6238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fld id="{E42692D2-73C1-47AC-A927-661694947F9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01736" y="1405991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6183499-2AE2-D1E8-1CBC-EEA72DC9ACA7}"/>
              </a:ext>
            </a:extLst>
          </p:cNvPr>
          <p:cNvGrpSpPr/>
          <p:nvPr userDrawn="1"/>
        </p:nvGrpSpPr>
        <p:grpSpPr>
          <a:xfrm>
            <a:off x="91407" y="1"/>
            <a:ext cx="8707631" cy="962951"/>
            <a:chOff x="91407" y="1"/>
            <a:chExt cx="8707631" cy="9629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32D2EC30-883D-E5FF-6020-64BE8AE65A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7738100" y="48552"/>
              <a:ext cx="1060938" cy="914400"/>
            </a:xfrm>
            <a:prstGeom prst="rect">
              <a:avLst/>
            </a:prstGeom>
          </p:spPr>
        </p:pic>
        <p:pic>
          <p:nvPicPr>
            <p:cNvPr id="12" name="Picture 11" descr="A logo with black text&#10;&#10;AI-generated content may be incorrect.">
              <a:extLst>
                <a:ext uri="{FF2B5EF4-FFF2-40B4-BE49-F238E27FC236}">
                  <a16:creationId xmlns:a16="http://schemas.microsoft.com/office/drawing/2014/main" id="{7E37CF6A-7CAA-14E2-0F06-7E4CA3C77D3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91407" y="48552"/>
              <a:ext cx="1195322" cy="91440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4FBC991C-D0BB-1BCD-F067-754F6F6818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3576680" y="1"/>
              <a:ext cx="1674055" cy="91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360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jp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rgbClr val="1F1355"/>
          </a:solidFill>
          <a:ln>
            <a:solidFill>
              <a:srgbClr val="1F135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600849F-58F8-457F-9D54-D948F49614F9}" type="datetime1">
              <a:rPr lang="en-US" smtClean="0"/>
              <a:t>6/13/2026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0DCF69A-9187-0130-2385-FE97D1B9EF3D}"/>
              </a:ext>
            </a:extLst>
          </p:cNvPr>
          <p:cNvGrpSpPr/>
          <p:nvPr userDrawn="1"/>
        </p:nvGrpSpPr>
        <p:grpSpPr>
          <a:xfrm>
            <a:off x="91407" y="1"/>
            <a:ext cx="8707631" cy="962951"/>
            <a:chOff x="91407" y="1"/>
            <a:chExt cx="8707631" cy="962951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2AB41D6-1407-59B0-4765-5837DE8CE26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7738100" y="48552"/>
              <a:ext cx="1060938" cy="914400"/>
            </a:xfrm>
            <a:prstGeom prst="rect">
              <a:avLst/>
            </a:prstGeom>
          </p:spPr>
        </p:pic>
        <p:pic>
          <p:nvPicPr>
            <p:cNvPr id="12" name="Picture 11" descr="A logo with black text&#10;&#10;AI-generated content may be incorrect.">
              <a:extLst>
                <a:ext uri="{FF2B5EF4-FFF2-40B4-BE49-F238E27FC236}">
                  <a16:creationId xmlns:a16="http://schemas.microsoft.com/office/drawing/2014/main" id="{F370A2DA-7002-B104-6531-9FBFD24FCF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tretch>
              <a:fillRect/>
            </a:stretch>
          </p:blipFill>
          <p:spPr>
            <a:xfrm>
              <a:off x="91407" y="48552"/>
              <a:ext cx="1195322" cy="914400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0776837-AA36-7E06-078E-664DCD7F2A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3576680" y="1"/>
              <a:ext cx="1674055" cy="914400"/>
            </a:xfrm>
            <a:prstGeom prst="rect">
              <a:avLst/>
            </a:prstGeom>
          </p:spPr>
        </p:pic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C48A412-D50B-351B-EEE1-5327F8F6146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1916683" y="962952"/>
            <a:ext cx="4965234" cy="119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336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F5712-8457-4AB7-8812-8F5799FCC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" y="2588628"/>
            <a:ext cx="8737600" cy="1680744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2700" b="1" noProof="1"/>
            </a:br>
            <a:r>
              <a:rPr lang="en-US" sz="3600" b="1" noProof="1"/>
              <a:t>Design and Implementation of an ECG Analog </a:t>
            </a:r>
            <a:br>
              <a:rPr lang="en-US" sz="3600" b="1" noProof="1"/>
            </a:br>
            <a:r>
              <a:rPr lang="en-US" sz="3600" b="1" noProof="1"/>
              <a:t>Front-End  </a:t>
            </a:r>
            <a:br>
              <a:rPr lang="en-US" noProof="1"/>
            </a:br>
            <a:br>
              <a:rPr lang="en-US" sz="1400" b="1" noProof="1"/>
            </a:br>
            <a:br>
              <a:rPr lang="en-US" sz="4400" b="1" noProof="1"/>
            </a:br>
            <a:r>
              <a:rPr lang="en-US" sz="2700" b="1" noProof="1"/>
              <a:t>Bota Andrei-Daniel, Robert Groza</a:t>
            </a:r>
            <a:endParaRPr lang="en-US" sz="2700" noProof="1">
              <a:solidFill>
                <a:srgbClr val="262626"/>
              </a:solidFill>
              <a:cs typeface="Calibri Light"/>
            </a:endParaRPr>
          </a:p>
        </p:txBody>
      </p:sp>
    </p:spTree>
    <p:extLst>
      <p:ext uri="{BB962C8B-B14F-4D97-AF65-F5344CB8AC3E}">
        <p14:creationId xmlns:p14="http://schemas.microsoft.com/office/powerpoint/2010/main" val="186986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72068670-D9C4-81B0-7438-C6921333D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2</a:t>
            </a:fld>
            <a:endParaRPr lang="en-US" noProof="1"/>
          </a:p>
        </p:txBody>
      </p:sp>
      <p:sp>
        <p:nvSpPr>
          <p:cNvPr id="4" name="Subtitle 1">
            <a:extLst>
              <a:ext uri="{FF2B5EF4-FFF2-40B4-BE49-F238E27FC236}">
                <a16:creationId xmlns:a16="http://schemas.microsoft.com/office/drawing/2014/main" id="{897A4A24-1D3A-944C-A567-06DCBFF393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736" y="1021938"/>
            <a:ext cx="7543800" cy="384052"/>
          </a:xfrm>
        </p:spPr>
        <p:txBody>
          <a:bodyPr>
            <a:normAutofit fontScale="92500" lnSpcReduction="10000"/>
          </a:bodyPr>
          <a:lstStyle/>
          <a:p>
            <a:r>
              <a:rPr lang="en-US" noProof="1"/>
              <a:t>Diagrama bloc</a:t>
            </a:r>
          </a:p>
        </p:txBody>
      </p:sp>
      <p:pic>
        <p:nvPicPr>
          <p:cNvPr id="8" name="Imagine 7">
            <a:extLst>
              <a:ext uri="{FF2B5EF4-FFF2-40B4-BE49-F238E27FC236}">
                <a16:creationId xmlns:a16="http://schemas.microsoft.com/office/drawing/2014/main" id="{4121337F-4E56-F51D-E02B-C3F82AC0F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50634"/>
            <a:ext cx="9144000" cy="436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2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ADAA48-923A-0EFF-2566-EB5492094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6B631DC-E251-E0E6-D9D2-0E5629394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Modelarea Electrozilor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5329988-F935-8D52-7B56-41BA200E3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3</a:t>
            </a:fld>
            <a:endParaRPr lang="en-US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73A0A3-89A8-42FA-03B8-D882B813E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3986" y="1608243"/>
            <a:ext cx="9144000" cy="4382478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7DE51A1-33FA-D908-672E-A8CB86C51044}"/>
              </a:ext>
            </a:extLst>
          </p:cNvPr>
          <p:cNvSpPr/>
          <p:nvPr/>
        </p:nvSpPr>
        <p:spPr>
          <a:xfrm>
            <a:off x="328863" y="1608243"/>
            <a:ext cx="3561348" cy="24905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83563-B7B1-A1F7-F14B-7F56A22B839B}"/>
              </a:ext>
            </a:extLst>
          </p:cNvPr>
          <p:cNvSpPr txBox="1"/>
          <p:nvPr/>
        </p:nvSpPr>
        <p:spPr>
          <a:xfrm>
            <a:off x="457200" y="1976337"/>
            <a:ext cx="26790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Zgomote</a:t>
            </a:r>
            <a:r>
              <a:rPr lang="en-US" b="1" dirty="0"/>
              <a:t> </a:t>
            </a:r>
            <a:r>
              <a:rPr lang="en-US" b="1" dirty="0" err="1"/>
              <a:t>modelate</a:t>
            </a:r>
            <a:r>
              <a:rPr lang="en-US" b="1" dirty="0"/>
              <a:t>:</a:t>
            </a:r>
            <a:endParaRPr lang="en-US" b="1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BaselineWander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Retea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+</a:t>
            </a:r>
            <a:b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</a:b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EMG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4B1D39-6DA9-F277-B750-3ECC295670E2}"/>
              </a:ext>
            </a:extLst>
          </p:cNvPr>
          <p:cNvSpPr/>
          <p:nvPr/>
        </p:nvSpPr>
        <p:spPr>
          <a:xfrm>
            <a:off x="814136" y="4220203"/>
            <a:ext cx="2446421" cy="16490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C46F1-2E96-58BA-6864-9D04C95A132B}"/>
              </a:ext>
            </a:extLst>
          </p:cNvPr>
          <p:cNvSpPr txBox="1"/>
          <p:nvPr/>
        </p:nvSpPr>
        <p:spPr>
          <a:xfrm>
            <a:off x="814136" y="4301011"/>
            <a:ext cx="19491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Helvetica" panose="020B0604020202020204" pitchFamily="34" charset="0"/>
                <a:cs typeface="Helvetica" panose="020B0604020202020204" pitchFamily="34" charset="0"/>
              </a:rPr>
              <a:t>Potential Corp:</a:t>
            </a:r>
          </a:p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VCM-RL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DE291C-4B4A-CFC8-D204-7CFF4A18A5A9}"/>
              </a:ext>
            </a:extLst>
          </p:cNvPr>
          <p:cNvSpPr/>
          <p:nvPr/>
        </p:nvSpPr>
        <p:spPr>
          <a:xfrm>
            <a:off x="4130842" y="1608243"/>
            <a:ext cx="4026569" cy="172049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404CAE-1450-4E6F-3B55-7AF989CDCFC7}"/>
              </a:ext>
            </a:extLst>
          </p:cNvPr>
          <p:cNvSpPr txBox="1"/>
          <p:nvPr/>
        </p:nvSpPr>
        <p:spPr>
          <a:xfrm>
            <a:off x="6529137" y="1949116"/>
            <a:ext cx="14437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Modelare</a:t>
            </a:r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 </a:t>
            </a:r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Impedanta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  <a:p>
            <a:r>
              <a:rPr lang="en-US" dirty="0" err="1">
                <a:latin typeface="Helvetica" panose="020B0604020202020204" pitchFamily="34" charset="0"/>
                <a:cs typeface="Helvetica" panose="020B0604020202020204" pitchFamily="34" charset="0"/>
              </a:rPr>
              <a:t>Electrozi</a:t>
            </a:r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1601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0B044-E67E-10AA-38A9-34733D752F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0885A613-55AE-2BAA-0593-6DDFBD4708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pROTECTIE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FB6EB1-D7B9-311F-ADCE-AD3CA9CC7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4</a:t>
            </a:fld>
            <a:endParaRPr lang="en-US" noProof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A3A5DA-1637-84E2-4F64-A3176385E4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37" y="1619461"/>
            <a:ext cx="9144000" cy="462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74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AC69B-F684-2BAB-BF26-2E437151E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44DE77B-BCF5-17D2-7BF2-D05C147212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Rld circuit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1FC154-14AD-F3D0-8EDE-C8D9E6B89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5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178BB7-4C1F-9C4F-8579-EE209D405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05990"/>
            <a:ext cx="9144000" cy="462685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F3BF1A2-66F1-0320-964F-D980A508ED29}"/>
              </a:ext>
            </a:extLst>
          </p:cNvPr>
          <p:cNvSpPr txBox="1"/>
          <p:nvPr/>
        </p:nvSpPr>
        <p:spPr>
          <a:xfrm>
            <a:off x="201736" y="1790042"/>
            <a:ext cx="463616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/>
              <a:t>Normă</a:t>
            </a:r>
            <a:r>
              <a:rPr lang="en-US" i="1" dirty="0"/>
              <a:t> IEC: &lt; 10</a:t>
            </a:r>
            <a:r>
              <a:rPr lang="el-GR" i="1" dirty="0"/>
              <a:t>μ</a:t>
            </a:r>
            <a:r>
              <a:rPr lang="en-US" i="1" dirty="0"/>
              <a:t>A</a:t>
            </a:r>
          </a:p>
          <a:p>
            <a:r>
              <a:rPr lang="en-US" i="1" dirty="0" err="1"/>
              <a:t>Curent</a:t>
            </a:r>
            <a:r>
              <a:rPr lang="en-US" i="1" dirty="0"/>
              <a:t> </a:t>
            </a:r>
            <a:r>
              <a:rPr lang="en-US" i="1" dirty="0" err="1"/>
              <a:t>injectat</a:t>
            </a:r>
            <a:r>
              <a:rPr lang="en-US" i="1" dirty="0"/>
              <a:t> </a:t>
            </a:r>
            <a:r>
              <a:rPr lang="en-US" i="1" dirty="0" err="1"/>
              <a:t>în</a:t>
            </a:r>
            <a:r>
              <a:rPr lang="en-US" i="1" dirty="0"/>
              <a:t> </a:t>
            </a:r>
            <a:r>
              <a:rPr lang="en-US" i="1" dirty="0" err="1"/>
              <a:t>pacient</a:t>
            </a:r>
            <a:r>
              <a:rPr lang="en-US" i="1" dirty="0"/>
              <a:t> (RLD): 3.3</a:t>
            </a:r>
            <a:r>
              <a:rPr lang="el-GR" i="1" dirty="0"/>
              <a:t>μ</a:t>
            </a:r>
            <a:r>
              <a:rPr lang="en-US" i="1" dirty="0"/>
              <a:t>A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715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0126B8-5932-F140-1D59-8D938BD4B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8A1B818B-B9E9-AE60-4CB7-C1D16124FB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ALIMENTARE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085DA7-51AD-F983-EF1E-0644AE91B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6</a:t>
            </a:fld>
            <a:endParaRPr lang="en-US" noProof="1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755B85-9E19-CEC2-8756-036783A02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0687"/>
            <a:ext cx="9144000" cy="4626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08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559FFE-39AE-5FEF-C6F0-C1CED4497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29576F0-6627-CABF-3F2A-80BF0E9A2F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>
                <a:cs typeface="Helvetica" panose="020B0604020202020204" pitchFamily="34" charset="0"/>
              </a:rPr>
              <a:t>Ina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9D9D78-F6D8-B06D-A9BF-73D013CE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>
                <a:latin typeface="Helvetica" panose="020B0604020202020204" pitchFamily="34" charset="0"/>
                <a:cs typeface="Helvetica" panose="020B0604020202020204" pitchFamily="34" charset="0"/>
              </a:rPr>
              <a:pPr/>
              <a:t>7</a:t>
            </a:fld>
            <a:endParaRPr lang="en-US" noProof="1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C938FCC-53F6-CA98-77E1-54D59D2207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0265" y="2339088"/>
            <a:ext cx="9144000" cy="4626854"/>
          </a:xfrm>
          <a:prstGeom prst="rect">
            <a:avLst/>
          </a:prstGeom>
        </p:spPr>
      </p:pic>
      <p:pic>
        <p:nvPicPr>
          <p:cNvPr id="5" name="Imagine 4">
            <a:extLst>
              <a:ext uri="{FF2B5EF4-FFF2-40B4-BE49-F238E27FC236}">
                <a16:creationId xmlns:a16="http://schemas.microsoft.com/office/drawing/2014/main" id="{52B36D1C-160B-36AD-B8AC-F91B88471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65" y="3662414"/>
            <a:ext cx="2637611" cy="188843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99EBBEC-2CB4-81DC-F27E-E94CFF75AB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0081" y="1875340"/>
            <a:ext cx="7364394" cy="87813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2A2F01B-AE89-E345-297A-BD7AE2FD7C1D}"/>
              </a:ext>
            </a:extLst>
          </p:cNvPr>
          <p:cNvSpPr/>
          <p:nvPr/>
        </p:nvSpPr>
        <p:spPr>
          <a:xfrm>
            <a:off x="1729340" y="2165684"/>
            <a:ext cx="7385135" cy="3087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E4631F0-088A-4DBE-F4A3-3E42D98008F7}"/>
              </a:ext>
            </a:extLst>
          </p:cNvPr>
          <p:cNvSpPr txBox="1"/>
          <p:nvPr/>
        </p:nvSpPr>
        <p:spPr>
          <a:xfrm>
            <a:off x="1644315" y="1500406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anose="020B0604020202020204" pitchFamily="34" charset="0"/>
                <a:cs typeface="Helvetica" panose="020B0604020202020204" pitchFamily="34" charset="0"/>
              </a:rPr>
              <a:t>GAIN SELECT</a:t>
            </a:r>
          </a:p>
        </p:txBody>
      </p:sp>
      <p:pic>
        <p:nvPicPr>
          <p:cNvPr id="4" name="Imagine 21">
            <a:extLst>
              <a:ext uri="{FF2B5EF4-FFF2-40B4-BE49-F238E27FC236}">
                <a16:creationId xmlns:a16="http://schemas.microsoft.com/office/drawing/2014/main" id="{2CE47F9F-8839-DF0C-58DF-659DCBB805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898" y="3657145"/>
            <a:ext cx="2498332" cy="194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659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D2A55-EA43-6110-4510-22D964007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5130175-FF6E-6959-0F05-9FC9621746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fts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A17694-647B-9158-7314-E42E05BC9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dirty="0" smtClean="0"/>
              <a:pPr/>
              <a:t>8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B0091F-A4D5-F699-7772-3C7F163AED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826" y="509148"/>
            <a:ext cx="6662887" cy="3371414"/>
          </a:xfrm>
          <a:prstGeom prst="rect">
            <a:avLst/>
          </a:prstGeom>
        </p:spPr>
      </p:pic>
      <p:graphicFrame>
        <p:nvGraphicFramePr>
          <p:cNvPr id="13" name="Tabel 12">
            <a:extLst>
              <a:ext uri="{FF2B5EF4-FFF2-40B4-BE49-F238E27FC236}">
                <a16:creationId xmlns:a16="http://schemas.microsoft.com/office/drawing/2014/main" id="{7994A88C-AD51-33E3-60E6-7FF00623F0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3908281"/>
              </p:ext>
            </p:extLst>
          </p:nvPr>
        </p:nvGraphicFramePr>
        <p:xfrm>
          <a:off x="630216" y="3626928"/>
          <a:ext cx="3439673" cy="237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19608">
                  <a:extLst>
                    <a:ext uri="{9D8B030D-6E8A-4147-A177-3AD203B41FA5}">
                      <a16:colId xmlns:a16="http://schemas.microsoft.com/office/drawing/2014/main" val="656949419"/>
                    </a:ext>
                  </a:extLst>
                </a:gridCol>
                <a:gridCol w="901454">
                  <a:extLst>
                    <a:ext uri="{9D8B030D-6E8A-4147-A177-3AD203B41FA5}">
                      <a16:colId xmlns:a16="http://schemas.microsoft.com/office/drawing/2014/main" val="2285104898"/>
                    </a:ext>
                  </a:extLst>
                </a:gridCol>
                <a:gridCol w="1118611">
                  <a:extLst>
                    <a:ext uri="{9D8B030D-6E8A-4147-A177-3AD203B41FA5}">
                      <a16:colId xmlns:a16="http://schemas.microsoft.com/office/drawing/2014/main" val="2389864767"/>
                    </a:ext>
                  </a:extLst>
                </a:gridCol>
              </a:tblGrid>
              <a:tr h="1977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Parametru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Simbol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Valoare Proiectată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00622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Frecvența de tăiere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50m Hz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6027294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Amplificarea nominală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20dB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284775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Frecvența de stop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fs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10m Hz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09097431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Atenuarea la fs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-40 dB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977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Număr poli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200" b="1" noProof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3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91239763"/>
                  </a:ext>
                </a:extLst>
              </a:tr>
            </a:tbl>
          </a:graphicData>
        </a:graphic>
      </p:graphicFrame>
      <p:pic>
        <p:nvPicPr>
          <p:cNvPr id="15" name="Imagine 23">
            <a:extLst>
              <a:ext uri="{FF2B5EF4-FFF2-40B4-BE49-F238E27FC236}">
                <a16:creationId xmlns:a16="http://schemas.microsoft.com/office/drawing/2014/main" id="{A6A22F64-AB1E-4851-A1D9-4AFCC4D27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941" y="1468063"/>
            <a:ext cx="2151619" cy="1676190"/>
          </a:xfrm>
          <a:prstGeom prst="rect">
            <a:avLst/>
          </a:prstGeom>
        </p:spPr>
      </p:pic>
      <p:pic>
        <p:nvPicPr>
          <p:cNvPr id="16" name="Imagine 21">
            <a:extLst>
              <a:ext uri="{FF2B5EF4-FFF2-40B4-BE49-F238E27FC236}">
                <a16:creationId xmlns:a16="http://schemas.microsoft.com/office/drawing/2014/main" id="{EC553619-4447-A722-47A0-4D5D7F932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526102"/>
            <a:ext cx="1937491" cy="15093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8185404-3987-326F-4FCF-BA4FC72726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2979" y="3233042"/>
            <a:ext cx="3054229" cy="299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528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F79E9-8EC0-9F17-B387-C47040B95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AB4916A8-9754-0B6E-9058-AF3F9F65F4A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notch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E93FF0-BCC7-2B28-326B-97BC9245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9</a:t>
            </a:fld>
            <a:endParaRPr lang="en-US" noProof="1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C9A619-F2BB-8411-E339-0FE3126F09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499" y="1417169"/>
            <a:ext cx="5478845" cy="2739246"/>
          </a:xfrm>
          <a:prstGeom prst="rect">
            <a:avLst/>
          </a:prstGeom>
        </p:spPr>
      </p:pic>
      <p:graphicFrame>
        <p:nvGraphicFramePr>
          <p:cNvPr id="7" name="Tabel 6">
            <a:extLst>
              <a:ext uri="{FF2B5EF4-FFF2-40B4-BE49-F238E27FC236}">
                <a16:creationId xmlns:a16="http://schemas.microsoft.com/office/drawing/2014/main" id="{CB0F3318-A96F-5F8E-99E1-71C031D57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431280"/>
              </p:ext>
            </p:extLst>
          </p:nvPr>
        </p:nvGraphicFramePr>
        <p:xfrm>
          <a:off x="922276" y="4156415"/>
          <a:ext cx="2819400" cy="144782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46089">
                  <a:extLst>
                    <a:ext uri="{9D8B030D-6E8A-4147-A177-3AD203B41FA5}">
                      <a16:colId xmlns:a16="http://schemas.microsoft.com/office/drawing/2014/main" val="3416729907"/>
                    </a:ext>
                  </a:extLst>
                </a:gridCol>
                <a:gridCol w="1373311">
                  <a:extLst>
                    <a:ext uri="{9D8B030D-6E8A-4147-A177-3AD203B41FA5}">
                      <a16:colId xmlns:a16="http://schemas.microsoft.com/office/drawing/2014/main" val="1203611862"/>
                    </a:ext>
                  </a:extLst>
                </a:gridCol>
              </a:tblGrid>
              <a:tr h="2426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noProof="1">
                          <a:effectLst/>
                        </a:rPr>
                        <a:t>Parametru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b="1" noProof="1">
                          <a:effectLst/>
                        </a:rPr>
                        <a:t>Valoare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230253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</a:rPr>
                        <a:t>Frecvența de taiere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noProof="1">
                          <a:effectLst/>
                        </a:rPr>
                        <a:t>50 Hz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1617113"/>
                  </a:ext>
                </a:extLst>
              </a:tr>
              <a:tr h="41525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Atenuarea la fs</a:t>
                      </a:r>
                      <a:endParaRPr lang="en-US" sz="10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noProof="1">
                          <a:effectLst/>
                        </a:rPr>
                        <a:t>40 dB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7607724"/>
                  </a:ext>
                </a:extLst>
              </a:tr>
              <a:tr h="3943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b="1" noProof="1">
                          <a:effectLst/>
                        </a:rPr>
                        <a:t>Câștig (A0)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000" noProof="1">
                          <a:effectLst/>
                        </a:rPr>
                        <a:t>0dB</a:t>
                      </a:r>
                      <a:endParaRPr lang="en-US" sz="1000" noProof="1">
                        <a:effectLst/>
                        <a:latin typeface="Google Sans Text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1658296"/>
                  </a:ext>
                </a:extLst>
              </a:tr>
            </a:tbl>
          </a:graphicData>
        </a:graphic>
      </p:graphicFrame>
      <p:pic>
        <p:nvPicPr>
          <p:cNvPr id="4" name="Imagine 23">
            <a:extLst>
              <a:ext uri="{FF2B5EF4-FFF2-40B4-BE49-F238E27FC236}">
                <a16:creationId xmlns:a16="http://schemas.microsoft.com/office/drawing/2014/main" id="{35CFDA3B-19CB-A374-52A2-114528E2F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072" y="1569773"/>
            <a:ext cx="2118944" cy="1650735"/>
          </a:xfrm>
          <a:prstGeom prst="rect">
            <a:avLst/>
          </a:prstGeom>
        </p:spPr>
      </p:pic>
      <p:pic>
        <p:nvPicPr>
          <p:cNvPr id="5" name="Imagine 14">
            <a:extLst>
              <a:ext uri="{FF2B5EF4-FFF2-40B4-BE49-F238E27FC236}">
                <a16:creationId xmlns:a16="http://schemas.microsoft.com/office/drawing/2014/main" id="{AC66A16D-C7DC-4FDA-6BBA-ACAA4A8E5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573" y="1534202"/>
            <a:ext cx="2195855" cy="184884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02A14B2-2C10-DF5E-2930-21B70A7688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0168" y="3557280"/>
            <a:ext cx="2819399" cy="2765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92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F3FDD-BB9D-0E5F-CCC9-AFEBDA78F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BA1A759C-1B01-5800-721A-28D1FA30A9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noProof="1"/>
              <a:t>ftj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210FFD-54DF-F008-9A10-6E23E4ACF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noProof="1" smtClean="0"/>
              <a:pPr/>
              <a:t>10</a:t>
            </a:fld>
            <a:endParaRPr lang="en-US" noProof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339E7-84AA-1FBB-8B85-11FF26B7F6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159" y="1213964"/>
            <a:ext cx="5057443" cy="2559060"/>
          </a:xfrm>
          <a:prstGeom prst="rect">
            <a:avLst/>
          </a:prstGeom>
        </p:spPr>
      </p:pic>
      <p:graphicFrame>
        <p:nvGraphicFramePr>
          <p:cNvPr id="8" name="Tabel 7">
            <a:extLst>
              <a:ext uri="{FF2B5EF4-FFF2-40B4-BE49-F238E27FC236}">
                <a16:creationId xmlns:a16="http://schemas.microsoft.com/office/drawing/2014/main" id="{C70606AA-0746-46D4-C2F6-5F62D613E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516235"/>
              </p:ext>
            </p:extLst>
          </p:nvPr>
        </p:nvGraphicFramePr>
        <p:xfrm>
          <a:off x="548246" y="4215426"/>
          <a:ext cx="4023754" cy="17221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1251">
                  <a:extLst>
                    <a:ext uri="{9D8B030D-6E8A-4147-A177-3AD203B41FA5}">
                      <a16:colId xmlns:a16="http://schemas.microsoft.com/office/drawing/2014/main" val="656949419"/>
                    </a:ext>
                  </a:extLst>
                </a:gridCol>
                <a:gridCol w="948594">
                  <a:extLst>
                    <a:ext uri="{9D8B030D-6E8A-4147-A177-3AD203B41FA5}">
                      <a16:colId xmlns:a16="http://schemas.microsoft.com/office/drawing/2014/main" val="2285104898"/>
                    </a:ext>
                  </a:extLst>
                </a:gridCol>
                <a:gridCol w="1733909">
                  <a:extLst>
                    <a:ext uri="{9D8B030D-6E8A-4147-A177-3AD203B41FA5}">
                      <a16:colId xmlns:a16="http://schemas.microsoft.com/office/drawing/2014/main" val="2389864767"/>
                    </a:ext>
                  </a:extLst>
                </a:gridCol>
              </a:tblGrid>
              <a:tr h="1977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Parametru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Simbol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Valoare Proiectată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1100622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Frecvența de tăiere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fc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150 Hz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1284775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Amplificarea nominală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A0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 dB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9097431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Frecvența de stop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 Hz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9977042"/>
                  </a:ext>
                </a:extLst>
              </a:tr>
              <a:tr h="19777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Atenuarea la fs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-40 dB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12397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Număr poli</a:t>
                      </a:r>
                      <a:endParaRPr lang="en-US" sz="1100" noProof="1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100" noProof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47923812"/>
                  </a:ext>
                </a:extLst>
              </a:tr>
            </a:tbl>
          </a:graphicData>
        </a:graphic>
      </p:graphicFrame>
      <p:pic>
        <p:nvPicPr>
          <p:cNvPr id="4" name="Imagine 14">
            <a:extLst>
              <a:ext uri="{FF2B5EF4-FFF2-40B4-BE49-F238E27FC236}">
                <a16:creationId xmlns:a16="http://schemas.microsoft.com/office/drawing/2014/main" id="{FE1D582F-4C24-34C9-A7E7-587039B7F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52" y="1532624"/>
            <a:ext cx="2045349" cy="1722120"/>
          </a:xfrm>
          <a:prstGeom prst="rect">
            <a:avLst/>
          </a:prstGeom>
        </p:spPr>
      </p:pic>
      <p:pic>
        <p:nvPicPr>
          <p:cNvPr id="7" name="Imagine 25">
            <a:extLst>
              <a:ext uri="{FF2B5EF4-FFF2-40B4-BE49-F238E27FC236}">
                <a16:creationId xmlns:a16="http://schemas.microsoft.com/office/drawing/2014/main" id="{3B80F136-F0E2-F617-2397-6F9A6E171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747" y="1481455"/>
            <a:ext cx="2313085" cy="194754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FCEC4BC-53BD-0553-9DF2-B27786C9E7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8387" y="3591765"/>
            <a:ext cx="2758299" cy="2705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53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u 1">
            <a:extLst>
              <a:ext uri="{FF2B5EF4-FFF2-40B4-BE49-F238E27FC236}">
                <a16:creationId xmlns:a16="http://schemas.microsoft.com/office/drawing/2014/main" id="{0961A265-ED88-39FE-3406-EE2D484BCE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Diagnostic Medical</a:t>
            </a:r>
            <a:endParaRPr lang="ro-RO" dirty="0"/>
          </a:p>
        </p:txBody>
      </p:sp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457AB36C-689F-EC55-8946-389656D76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E1D16B69-60F0-728C-330F-EFB9EE192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379" y="2090737"/>
            <a:ext cx="5765949" cy="3262313"/>
          </a:xfrm>
          <a:prstGeom prst="rect">
            <a:avLst/>
          </a:prstGeom>
        </p:spPr>
      </p:pic>
      <p:sp>
        <p:nvSpPr>
          <p:cNvPr id="8" name="CasetăText 7">
            <a:extLst>
              <a:ext uri="{FF2B5EF4-FFF2-40B4-BE49-F238E27FC236}">
                <a16:creationId xmlns:a16="http://schemas.microsoft.com/office/drawing/2014/main" id="{11FD61A1-DD05-2328-E905-054C7396D2F3}"/>
              </a:ext>
            </a:extLst>
          </p:cNvPr>
          <p:cNvSpPr txBox="1"/>
          <p:nvPr/>
        </p:nvSpPr>
        <p:spPr>
          <a:xfrm>
            <a:off x="6134917" y="2586567"/>
            <a:ext cx="337805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/>
              <a:t>Normă</a:t>
            </a:r>
            <a:r>
              <a:rPr lang="en-US" sz="1600" b="1" dirty="0"/>
              <a:t> IEC 60601-2-25:</a:t>
            </a:r>
          </a:p>
          <a:p>
            <a:r>
              <a:rPr lang="en-US" sz="1600" b="1" dirty="0" err="1"/>
              <a:t>Zgomot</a:t>
            </a:r>
            <a:r>
              <a:rPr lang="en-US" sz="1600" b="1" dirty="0"/>
              <a:t> RTI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30 µV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err="1"/>
              <a:t>Rezultate</a:t>
            </a:r>
            <a:r>
              <a:rPr lang="en-US" sz="1600" b="1" dirty="0"/>
              <a:t> </a:t>
            </a:r>
            <a:r>
              <a:rPr lang="en-US" sz="1600" b="1" dirty="0" err="1"/>
              <a:t>obținute</a:t>
            </a:r>
            <a:r>
              <a:rPr lang="en-US" sz="1600" b="1" dirty="0"/>
              <a:t>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Zgomot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măsurat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iesire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5.38 mV (p-p)</a:t>
            </a:r>
          </a:p>
          <a:p>
            <a:r>
              <a:rPr lang="en-US" sz="1600" b="1" dirty="0" err="1"/>
              <a:t>Zgomot</a:t>
            </a:r>
            <a:r>
              <a:rPr lang="en-US" sz="1600" b="1" dirty="0"/>
              <a:t> RTI: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10.76µV</a:t>
            </a:r>
          </a:p>
        </p:txBody>
      </p:sp>
    </p:spTree>
    <p:extLst>
      <p:ext uri="{BB962C8B-B14F-4D97-AF65-F5344CB8AC3E}">
        <p14:creationId xmlns:p14="http://schemas.microsoft.com/office/powerpoint/2010/main" val="11059178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u 1">
            <a:extLst>
              <a:ext uri="{FF2B5EF4-FFF2-40B4-BE49-F238E27FC236}">
                <a16:creationId xmlns:a16="http://schemas.microsoft.com/office/drawing/2014/main" id="{25E5F38E-032D-FB9E-5070-521EE96F85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PCB SCHEMATIC</a:t>
            </a:r>
            <a:endParaRPr lang="ro-RO" dirty="0"/>
          </a:p>
        </p:txBody>
      </p:sp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374EC405-29B0-C03A-1D40-FC8C14287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Imagine 6">
            <a:extLst>
              <a:ext uri="{FF2B5EF4-FFF2-40B4-BE49-F238E27FC236}">
                <a16:creationId xmlns:a16="http://schemas.microsoft.com/office/drawing/2014/main" id="{DD3EE223-E614-E24D-79A3-9E1CF4E567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1600" y="1483894"/>
            <a:ext cx="11404600" cy="7985791"/>
          </a:xfrm>
          <a:prstGeom prst="rect">
            <a:avLst/>
          </a:prstGeom>
        </p:spPr>
      </p:pic>
      <p:sp>
        <p:nvSpPr>
          <p:cNvPr id="8" name="Dreptunghi 7">
            <a:extLst>
              <a:ext uri="{FF2B5EF4-FFF2-40B4-BE49-F238E27FC236}">
                <a16:creationId xmlns:a16="http://schemas.microsoft.com/office/drawing/2014/main" id="{C3098FB1-C368-BF31-40F4-7FD9B32DD467}"/>
              </a:ext>
            </a:extLst>
          </p:cNvPr>
          <p:cNvSpPr/>
          <p:nvPr/>
        </p:nvSpPr>
        <p:spPr>
          <a:xfrm>
            <a:off x="136772" y="1625600"/>
            <a:ext cx="179264" cy="52324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9" name="Dreptunghi 8">
            <a:extLst>
              <a:ext uri="{FF2B5EF4-FFF2-40B4-BE49-F238E27FC236}">
                <a16:creationId xmlns:a16="http://schemas.microsoft.com/office/drawing/2014/main" id="{7636E068-1BF2-6874-03A5-49559F6AFEE2}"/>
              </a:ext>
            </a:extLst>
          </p:cNvPr>
          <p:cNvSpPr/>
          <p:nvPr/>
        </p:nvSpPr>
        <p:spPr>
          <a:xfrm rot="5400000">
            <a:off x="4575788" y="-2756049"/>
            <a:ext cx="179264" cy="90572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08796E-D526-81E2-009A-BDA4662DE6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76311" y="6360695"/>
            <a:ext cx="11288125" cy="5121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399656-8694-67B2-48C4-5220196DB048}"/>
              </a:ext>
            </a:extLst>
          </p:cNvPr>
          <p:cNvSpPr txBox="1"/>
          <p:nvPr/>
        </p:nvSpPr>
        <p:spPr>
          <a:xfrm>
            <a:off x="8081643" y="6496303"/>
            <a:ext cx="4373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12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E9E2510-6F89-7AE6-E4D2-18489E1BAF67}"/>
              </a:ext>
            </a:extLst>
          </p:cNvPr>
          <p:cNvSpPr/>
          <p:nvPr/>
        </p:nvSpPr>
        <p:spPr>
          <a:xfrm>
            <a:off x="-101600" y="6319521"/>
            <a:ext cx="10513414" cy="8689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40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Imagine 29">
            <a:extLst>
              <a:ext uri="{FF2B5EF4-FFF2-40B4-BE49-F238E27FC236}">
                <a16:creationId xmlns:a16="http://schemas.microsoft.com/office/drawing/2014/main" id="{A58DC2BA-F0E1-BCA5-4E2A-3B54EE28BC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3905238"/>
            <a:ext cx="4432300" cy="2390974"/>
          </a:xfrm>
          <a:prstGeom prst="rect">
            <a:avLst/>
          </a:prstGeom>
        </p:spPr>
      </p:pic>
      <p:sp>
        <p:nvSpPr>
          <p:cNvPr id="2" name="Subtitlu 1">
            <a:extLst>
              <a:ext uri="{FF2B5EF4-FFF2-40B4-BE49-F238E27FC236}">
                <a16:creationId xmlns:a16="http://schemas.microsoft.com/office/drawing/2014/main" id="{51DB47C4-6B9F-C10C-C95A-AC964867412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LAYOUT</a:t>
            </a:r>
            <a:endParaRPr lang="ro-RO" dirty="0"/>
          </a:p>
        </p:txBody>
      </p:sp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7CDE166C-48EB-5A8C-088F-1CF2B036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Imagine 4">
            <a:extLst>
              <a:ext uri="{FF2B5EF4-FFF2-40B4-BE49-F238E27FC236}">
                <a16:creationId xmlns:a16="http://schemas.microsoft.com/office/drawing/2014/main" id="{865E092D-5416-148D-2983-FF1101ED6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73" y="1558035"/>
            <a:ext cx="3797986" cy="3320752"/>
          </a:xfrm>
          <a:prstGeom prst="rect">
            <a:avLst/>
          </a:prstGeom>
        </p:spPr>
      </p:pic>
      <p:pic>
        <p:nvPicPr>
          <p:cNvPr id="7" name="Imagine 6">
            <a:extLst>
              <a:ext uri="{FF2B5EF4-FFF2-40B4-BE49-F238E27FC236}">
                <a16:creationId xmlns:a16="http://schemas.microsoft.com/office/drawing/2014/main" id="{8A5BE3F7-7386-44C8-3C40-57E67033A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9100" y="1444488"/>
            <a:ext cx="4432300" cy="2390974"/>
          </a:xfrm>
          <a:prstGeom prst="rect">
            <a:avLst/>
          </a:prstGeom>
        </p:spPr>
      </p:pic>
      <p:sp>
        <p:nvSpPr>
          <p:cNvPr id="10" name="Dreptunghi 9">
            <a:extLst>
              <a:ext uri="{FF2B5EF4-FFF2-40B4-BE49-F238E27FC236}">
                <a16:creationId xmlns:a16="http://schemas.microsoft.com/office/drawing/2014/main" id="{5DDB342B-92A8-6A5F-1CA7-EB888406566C}"/>
              </a:ext>
            </a:extLst>
          </p:cNvPr>
          <p:cNvSpPr/>
          <p:nvPr/>
        </p:nvSpPr>
        <p:spPr>
          <a:xfrm>
            <a:off x="6407944" y="2524125"/>
            <a:ext cx="1288256" cy="1147763"/>
          </a:xfrm>
          <a:prstGeom prst="rect">
            <a:avLst/>
          </a:prstGeom>
          <a:noFill/>
          <a:ln>
            <a:solidFill>
              <a:srgbClr val="FFC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1" name="CasetăText 10">
            <a:extLst>
              <a:ext uri="{FF2B5EF4-FFF2-40B4-BE49-F238E27FC236}">
                <a16:creationId xmlns:a16="http://schemas.microsoft.com/office/drawing/2014/main" id="{D6D90985-2FAD-BDB8-B8A4-C607616CDFD2}"/>
              </a:ext>
            </a:extLst>
          </p:cNvPr>
          <p:cNvSpPr txBox="1"/>
          <p:nvPr/>
        </p:nvSpPr>
        <p:spPr>
          <a:xfrm>
            <a:off x="6560344" y="2485627"/>
            <a:ext cx="50958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i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PSU</a:t>
            </a:r>
            <a:endParaRPr lang="ro-RO" sz="1000" b="1" i="1" dirty="0">
              <a:solidFill>
                <a:srgbClr val="FFC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Dreptunghi 11">
            <a:extLst>
              <a:ext uri="{FF2B5EF4-FFF2-40B4-BE49-F238E27FC236}">
                <a16:creationId xmlns:a16="http://schemas.microsoft.com/office/drawing/2014/main" id="{8040D657-3C55-2C52-25A4-2F3BC1682418}"/>
              </a:ext>
            </a:extLst>
          </p:cNvPr>
          <p:cNvSpPr/>
          <p:nvPr/>
        </p:nvSpPr>
        <p:spPr>
          <a:xfrm>
            <a:off x="5083969" y="2524125"/>
            <a:ext cx="1323975" cy="1147763"/>
          </a:xfrm>
          <a:prstGeom prst="rect">
            <a:avLst/>
          </a:prstGeom>
          <a:noFill/>
          <a:ln>
            <a:solidFill>
              <a:srgbClr val="CC0099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4" name="CasetăText 13">
            <a:extLst>
              <a:ext uri="{FF2B5EF4-FFF2-40B4-BE49-F238E27FC236}">
                <a16:creationId xmlns:a16="http://schemas.microsoft.com/office/drawing/2014/main" id="{99A4B280-B533-7569-B140-F1FC4029022E}"/>
              </a:ext>
            </a:extLst>
          </p:cNvPr>
          <p:cNvSpPr txBox="1"/>
          <p:nvPr/>
        </p:nvSpPr>
        <p:spPr>
          <a:xfrm>
            <a:off x="5012142" y="2485627"/>
            <a:ext cx="1433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CC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PROTECTIE,ACHIZITIE SEMNAL</a:t>
            </a:r>
            <a:endParaRPr lang="ro-RO" sz="800" b="1" i="1" dirty="0">
              <a:solidFill>
                <a:srgbClr val="CC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Dreptunghi 14">
            <a:extLst>
              <a:ext uri="{FF2B5EF4-FFF2-40B4-BE49-F238E27FC236}">
                <a16:creationId xmlns:a16="http://schemas.microsoft.com/office/drawing/2014/main" id="{5F981BA4-7031-E9C2-C47F-F1F65C6A9853}"/>
              </a:ext>
            </a:extLst>
          </p:cNvPr>
          <p:cNvSpPr/>
          <p:nvPr/>
        </p:nvSpPr>
        <p:spPr>
          <a:xfrm>
            <a:off x="6407944" y="1590675"/>
            <a:ext cx="1288256" cy="933450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6" name="CasetăText 15">
            <a:extLst>
              <a:ext uri="{FF2B5EF4-FFF2-40B4-BE49-F238E27FC236}">
                <a16:creationId xmlns:a16="http://schemas.microsoft.com/office/drawing/2014/main" id="{6E439AE4-F458-75EB-193D-D3824E97EA04}"/>
              </a:ext>
            </a:extLst>
          </p:cNvPr>
          <p:cNvSpPr txBox="1"/>
          <p:nvPr/>
        </p:nvSpPr>
        <p:spPr>
          <a:xfrm>
            <a:off x="6375400" y="1583622"/>
            <a:ext cx="5524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NOTCH</a:t>
            </a:r>
            <a:endParaRPr lang="ro-RO" sz="8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CasetăText 16">
            <a:extLst>
              <a:ext uri="{FF2B5EF4-FFF2-40B4-BE49-F238E27FC236}">
                <a16:creationId xmlns:a16="http://schemas.microsoft.com/office/drawing/2014/main" id="{DDFF3315-BF22-8DF0-C994-430319126D1C}"/>
              </a:ext>
            </a:extLst>
          </p:cNvPr>
          <p:cNvSpPr txBox="1"/>
          <p:nvPr/>
        </p:nvSpPr>
        <p:spPr>
          <a:xfrm>
            <a:off x="7035800" y="1558035"/>
            <a:ext cx="5524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FTJ</a:t>
            </a:r>
            <a:endParaRPr lang="ro-RO" sz="800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Dreptunghi 17">
            <a:extLst>
              <a:ext uri="{FF2B5EF4-FFF2-40B4-BE49-F238E27FC236}">
                <a16:creationId xmlns:a16="http://schemas.microsoft.com/office/drawing/2014/main" id="{71061EE3-8CDF-D32E-E88F-C65EA76605A2}"/>
              </a:ext>
            </a:extLst>
          </p:cNvPr>
          <p:cNvSpPr/>
          <p:nvPr/>
        </p:nvSpPr>
        <p:spPr>
          <a:xfrm>
            <a:off x="5083969" y="1587149"/>
            <a:ext cx="1323975" cy="933450"/>
          </a:xfrm>
          <a:prstGeom prst="rect">
            <a:avLst/>
          </a:prstGeom>
          <a:noFill/>
          <a:ln>
            <a:solidFill>
              <a:srgbClr val="FFFF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19" name="CasetăText 18">
            <a:extLst>
              <a:ext uri="{FF2B5EF4-FFF2-40B4-BE49-F238E27FC236}">
                <a16:creationId xmlns:a16="http://schemas.microsoft.com/office/drawing/2014/main" id="{8DC4F912-15DE-C7D7-628A-700997DF9A90}"/>
              </a:ext>
            </a:extLst>
          </p:cNvPr>
          <p:cNvSpPr txBox="1"/>
          <p:nvPr/>
        </p:nvSpPr>
        <p:spPr>
          <a:xfrm>
            <a:off x="5963446" y="1592340"/>
            <a:ext cx="55244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FTS</a:t>
            </a:r>
            <a:endParaRPr lang="ro-RO" sz="800" b="1" i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CasetăText 19">
            <a:extLst>
              <a:ext uri="{FF2B5EF4-FFF2-40B4-BE49-F238E27FC236}">
                <a16:creationId xmlns:a16="http://schemas.microsoft.com/office/drawing/2014/main" id="{0B960E29-60F0-A685-3EEB-F02CDDC115C0}"/>
              </a:ext>
            </a:extLst>
          </p:cNvPr>
          <p:cNvSpPr txBox="1"/>
          <p:nvPr/>
        </p:nvSpPr>
        <p:spPr>
          <a:xfrm>
            <a:off x="5097069" y="1583622"/>
            <a:ext cx="5524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VREF,</a:t>
            </a:r>
          </a:p>
          <a:p>
            <a:r>
              <a:rPr lang="en-US" sz="800" b="1" i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RLD</a:t>
            </a:r>
            <a:endParaRPr lang="ro-RO" sz="800" b="1" i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Conector drept 21">
            <a:extLst>
              <a:ext uri="{FF2B5EF4-FFF2-40B4-BE49-F238E27FC236}">
                <a16:creationId xmlns:a16="http://schemas.microsoft.com/office/drawing/2014/main" id="{6EC5EBB9-966C-F384-AC7E-5FF1AB049270}"/>
              </a:ext>
            </a:extLst>
          </p:cNvPr>
          <p:cNvCxnSpPr>
            <a:cxnSpLocks/>
          </p:cNvCxnSpPr>
          <p:nvPr/>
        </p:nvCxnSpPr>
        <p:spPr>
          <a:xfrm>
            <a:off x="5198669" y="4057650"/>
            <a:ext cx="0" cy="2087118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3" name="CasetăText 22">
            <a:extLst>
              <a:ext uri="{FF2B5EF4-FFF2-40B4-BE49-F238E27FC236}">
                <a16:creationId xmlns:a16="http://schemas.microsoft.com/office/drawing/2014/main" id="{6E43A811-6C1A-348F-EC47-DF6EF6FBA483}"/>
              </a:ext>
            </a:extLst>
          </p:cNvPr>
          <p:cNvSpPr txBox="1"/>
          <p:nvPr/>
        </p:nvSpPr>
        <p:spPr>
          <a:xfrm rot="16200000">
            <a:off x="4575858" y="4969919"/>
            <a:ext cx="984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37.5 mm</a:t>
            </a:r>
            <a:endParaRPr lang="ro-RO" sz="1100" dirty="0">
              <a:solidFill>
                <a:schemeClr val="bg1"/>
              </a:solidFill>
            </a:endParaRPr>
          </a:p>
        </p:txBody>
      </p:sp>
      <p:cxnSp>
        <p:nvCxnSpPr>
          <p:cNvPr id="24" name="Conector drept 23">
            <a:extLst>
              <a:ext uri="{FF2B5EF4-FFF2-40B4-BE49-F238E27FC236}">
                <a16:creationId xmlns:a16="http://schemas.microsoft.com/office/drawing/2014/main" id="{49721EA0-490C-BE83-5884-47BD7EBB4203}"/>
              </a:ext>
            </a:extLst>
          </p:cNvPr>
          <p:cNvCxnSpPr>
            <a:cxnSpLocks/>
          </p:cNvCxnSpPr>
          <p:nvPr/>
        </p:nvCxnSpPr>
        <p:spPr>
          <a:xfrm>
            <a:off x="5251450" y="6217980"/>
            <a:ext cx="2462609" cy="0"/>
          </a:xfrm>
          <a:prstGeom prst="line">
            <a:avLst/>
          </a:prstGeom>
          <a:ln w="19050" cap="flat" cmpd="sng" algn="ctr">
            <a:solidFill>
              <a:schemeClr val="bg1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CasetăText 27">
            <a:extLst>
              <a:ext uri="{FF2B5EF4-FFF2-40B4-BE49-F238E27FC236}">
                <a16:creationId xmlns:a16="http://schemas.microsoft.com/office/drawing/2014/main" id="{13A8BA9A-639C-15FC-72EC-C98DC14A65E7}"/>
              </a:ext>
            </a:extLst>
          </p:cNvPr>
          <p:cNvSpPr txBox="1"/>
          <p:nvPr/>
        </p:nvSpPr>
        <p:spPr>
          <a:xfrm>
            <a:off x="6239670" y="6013963"/>
            <a:ext cx="98401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42 mm</a:t>
            </a:r>
            <a:endParaRPr lang="ro-RO" sz="1100" dirty="0">
              <a:solidFill>
                <a:schemeClr val="bg1"/>
              </a:solidFill>
            </a:endParaRPr>
          </a:p>
        </p:txBody>
      </p:sp>
      <p:sp>
        <p:nvSpPr>
          <p:cNvPr id="4" name="CasetăText 3">
            <a:extLst>
              <a:ext uri="{FF2B5EF4-FFF2-40B4-BE49-F238E27FC236}">
                <a16:creationId xmlns:a16="http://schemas.microsoft.com/office/drawing/2014/main" id="{83FBFD05-02BB-7CD6-C1F8-9B113F2420C0}"/>
              </a:ext>
            </a:extLst>
          </p:cNvPr>
          <p:cNvSpPr txBox="1"/>
          <p:nvPr/>
        </p:nvSpPr>
        <p:spPr>
          <a:xfrm>
            <a:off x="575821" y="5017651"/>
            <a:ext cx="32379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Costul</a:t>
            </a:r>
            <a:r>
              <a:rPr lang="en-US" dirty="0"/>
              <a:t> total al </a:t>
            </a:r>
            <a:r>
              <a:rPr lang="en-US" dirty="0" err="1"/>
              <a:t>listei</a:t>
            </a:r>
            <a:r>
              <a:rPr lang="en-US" dirty="0"/>
              <a:t> de </a:t>
            </a:r>
            <a:r>
              <a:rPr lang="en-US" dirty="0" err="1"/>
              <a:t>materiale</a:t>
            </a:r>
            <a:r>
              <a:rPr lang="en-US" dirty="0"/>
              <a:t> (BOM) </a:t>
            </a:r>
            <a:r>
              <a:rPr lang="en-US" dirty="0" err="1"/>
              <a:t>este</a:t>
            </a:r>
            <a:r>
              <a:rPr lang="en-US" dirty="0"/>
              <a:t> de </a:t>
            </a:r>
            <a:r>
              <a:rPr lang="en-US" dirty="0" err="1"/>
              <a:t>aproximativ</a:t>
            </a:r>
            <a:r>
              <a:rPr lang="en-US" dirty="0"/>
              <a:t> 50 RON pe </a:t>
            </a:r>
            <a:r>
              <a:rPr lang="en-US" dirty="0" err="1"/>
              <a:t>unitate</a:t>
            </a:r>
            <a:r>
              <a:rPr lang="en-US" dirty="0"/>
              <a:t>, la un </a:t>
            </a:r>
            <a:r>
              <a:rPr lang="en-US" dirty="0" err="1"/>
              <a:t>volum</a:t>
            </a:r>
            <a:r>
              <a:rPr lang="en-US" dirty="0"/>
              <a:t> de </a:t>
            </a:r>
            <a:r>
              <a:rPr lang="en-US" dirty="0" err="1"/>
              <a:t>producție</a:t>
            </a:r>
            <a:r>
              <a:rPr lang="en-US" dirty="0"/>
              <a:t> de 1000 de </a:t>
            </a:r>
            <a:r>
              <a:rPr lang="en-US" dirty="0" err="1"/>
              <a:t>unități</a:t>
            </a:r>
            <a:r>
              <a:rPr lang="en-US" dirty="0"/>
              <a:t>.</a:t>
            </a:r>
            <a:endParaRPr lang="ro-RO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3123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u 1">
            <a:extLst>
              <a:ext uri="{FF2B5EF4-FFF2-40B4-BE49-F238E27FC236}">
                <a16:creationId xmlns:a16="http://schemas.microsoft.com/office/drawing/2014/main" id="{1AB23185-18E6-2BF1-8132-66650BB3CC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cs typeface="Helvetica" panose="020B0604020202020204" pitchFamily="34" charset="0"/>
              </a:rPr>
              <a:t>ANALIZA MONTE CARLO</a:t>
            </a:r>
            <a:endParaRPr lang="ro-RO" dirty="0">
              <a:cs typeface="Helvetica" panose="020B0604020202020204" pitchFamily="34" charset="0"/>
            </a:endParaRPr>
          </a:p>
        </p:txBody>
      </p:sp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DF60042D-06D8-DE5A-9E18-C1AEF0D9E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>
                <a:latin typeface="Helvetica" panose="020B0604020202020204" pitchFamily="34" charset="0"/>
                <a:cs typeface="Helvetica" panose="020B0604020202020204" pitchFamily="34" charset="0"/>
              </a:rPr>
              <a:pPr/>
              <a:t>14</a:t>
            </a:fld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graphicFrame>
        <p:nvGraphicFramePr>
          <p:cNvPr id="4" name="Tabel 3">
            <a:extLst>
              <a:ext uri="{FF2B5EF4-FFF2-40B4-BE49-F238E27FC236}">
                <a16:creationId xmlns:a16="http://schemas.microsoft.com/office/drawing/2014/main" id="{58511004-B833-6A17-E1A2-414B44E757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631281"/>
              </p:ext>
            </p:extLst>
          </p:nvPr>
        </p:nvGraphicFramePr>
        <p:xfrm>
          <a:off x="1155031" y="1898134"/>
          <a:ext cx="6350524" cy="3937928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181726">
                  <a:extLst>
                    <a:ext uri="{9D8B030D-6E8A-4147-A177-3AD203B41FA5}">
                      <a16:colId xmlns:a16="http://schemas.microsoft.com/office/drawing/2014/main" val="318513451"/>
                    </a:ext>
                  </a:extLst>
                </a:gridCol>
                <a:gridCol w="993536">
                  <a:extLst>
                    <a:ext uri="{9D8B030D-6E8A-4147-A177-3AD203B41FA5}">
                      <a16:colId xmlns:a16="http://schemas.microsoft.com/office/drawing/2014/main" val="2651919003"/>
                    </a:ext>
                  </a:extLst>
                </a:gridCol>
                <a:gridCol w="1587631">
                  <a:extLst>
                    <a:ext uri="{9D8B030D-6E8A-4147-A177-3AD203B41FA5}">
                      <a16:colId xmlns:a16="http://schemas.microsoft.com/office/drawing/2014/main" val="3517306467"/>
                    </a:ext>
                  </a:extLst>
                </a:gridCol>
                <a:gridCol w="1587631">
                  <a:extLst>
                    <a:ext uri="{9D8B030D-6E8A-4147-A177-3AD203B41FA5}">
                      <a16:colId xmlns:a16="http://schemas.microsoft.com/office/drawing/2014/main" val="1203062968"/>
                    </a:ext>
                  </a:extLst>
                </a:gridCol>
              </a:tblGrid>
              <a:tr h="539767">
                <a:tc rowSpan="2">
                  <a:txBody>
                    <a:bodyPr/>
                    <a:lstStyle/>
                    <a:p>
                      <a:pPr marL="0" marR="1905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Param.  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</a:p>
                    <a:p>
                      <a:pPr marL="265430" marR="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Values</a:t>
                      </a:r>
                    </a:p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 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135746"/>
                  </a:ext>
                </a:extLst>
              </a:tr>
              <a:tr h="539767">
                <a:tc vMerge="1">
                  <a:txBody>
                    <a:bodyPr/>
                    <a:lstStyle/>
                    <a:p>
                      <a:endParaRPr lang="ro-R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Simulated 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8415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Monte Carlo 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8415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Deviation [%] 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3052858"/>
                  </a:ext>
                </a:extLst>
              </a:tr>
              <a:tr h="539767">
                <a:tc>
                  <a:txBody>
                    <a:bodyPr/>
                    <a:lstStyle/>
                    <a:p>
                      <a:pPr marL="0" marR="18415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Total Gain (V/V) 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tc>
                  <a:txBody>
                    <a:bodyPr/>
                    <a:lstStyle/>
                    <a:p>
                      <a:pPr marL="0" marR="2159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500 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tc>
                  <a:txBody>
                    <a:bodyPr/>
                    <a:lstStyle/>
                    <a:p>
                      <a:pPr marL="0" marR="18415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504.5-510 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tc>
                  <a:txBody>
                    <a:bodyPr/>
                    <a:lstStyle/>
                    <a:p>
                      <a:pPr marL="0" marR="1778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+0.9, +2 </a:t>
                      </a:r>
                      <a:endParaRPr lang="en-US" sz="1200" kern="1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extLst>
                  <a:ext uri="{0D108BD9-81ED-4DB2-BD59-A6C34878D82A}">
                    <a16:rowId xmlns:a16="http://schemas.microsoft.com/office/drawing/2014/main" val="280976505"/>
                  </a:ext>
                </a:extLst>
              </a:tr>
              <a:tr h="53976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HPF cutoff @-3dB (</a:t>
                      </a:r>
                      <a:r>
                        <a:rPr lang="en-US" sz="1200" b="1" kern="100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mHz</a:t>
                      </a: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) 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032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50 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032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46.2-53.5 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032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-7.6, +7.0 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1402970"/>
                  </a:ext>
                </a:extLst>
              </a:tr>
              <a:tr h="53976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LPF cutoff @-3dB (Hz) 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tc>
                  <a:txBody>
                    <a:bodyPr/>
                    <a:lstStyle/>
                    <a:p>
                      <a:pPr marL="0" marR="2159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150 </a:t>
                      </a:r>
                      <a:endParaRPr lang="en-US" sz="1200" kern="1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112.22 -177.75 </a:t>
                      </a:r>
                    </a:p>
                    <a:p>
                      <a:pPr marL="5080" marR="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 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tc>
                  <a:txBody>
                    <a:bodyPr/>
                    <a:lstStyle/>
                    <a:p>
                      <a:pPr marL="0" marR="19685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-25.2, +18.4 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extLst>
                  <a:ext uri="{0D108BD9-81ED-4DB2-BD59-A6C34878D82A}">
                    <a16:rowId xmlns:a16="http://schemas.microsoft.com/office/drawing/2014/main" val="3712141989"/>
                  </a:ext>
                </a:extLst>
              </a:tr>
              <a:tr h="53976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Notch </a:t>
                      </a:r>
                      <a:r>
                        <a:rPr lang="en-US" sz="1200" b="1" kern="100" dirty="0" err="1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atten</a:t>
                      </a: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. @50 Hz (dB) 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286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-40  </a:t>
                      </a:r>
                      <a:endParaRPr lang="en-US" sz="1200" kern="1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2159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-19.34  </a:t>
                      </a:r>
                      <a:endParaRPr lang="en-US" sz="1200" kern="1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19685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51.6 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755482"/>
                  </a:ext>
                </a:extLst>
              </a:tr>
              <a:tr h="539767">
                <a:tc>
                  <a:txBody>
                    <a:bodyPr/>
                    <a:lstStyle/>
                    <a:p>
                      <a:pPr marL="0" marR="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Notch center freq. (Hz) 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tc>
                  <a:txBody>
                    <a:bodyPr/>
                    <a:lstStyle/>
                    <a:p>
                      <a:pPr marL="0" marR="19685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50 </a:t>
                      </a:r>
                      <a:endParaRPr lang="en-US" sz="1200" kern="10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tc>
                  <a:txBody>
                    <a:bodyPr/>
                    <a:lstStyle/>
                    <a:p>
                      <a:pPr marL="0" marR="21590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47.5– 56.2  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tc>
                  <a:txBody>
                    <a:bodyPr/>
                    <a:lstStyle/>
                    <a:p>
                      <a:pPr marL="0" marR="18415" indent="0" algn="ctr">
                        <a:lnSpc>
                          <a:spcPct val="107000"/>
                        </a:lnSpc>
                        <a:spcAft>
                          <a:spcPts val="20"/>
                        </a:spcAft>
                        <a:buNone/>
                      </a:pPr>
                      <a:r>
                        <a:rPr lang="en-US" sz="1200" kern="100" dirty="0">
                          <a:effectLst/>
                          <a:latin typeface="Helvetica" panose="020B0604020202020204" pitchFamily="34" charset="0"/>
                          <a:cs typeface="Helvetica" panose="020B0604020202020204" pitchFamily="34" charset="0"/>
                        </a:rPr>
                        <a:t>-5, +12.4 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Helvetica" panose="020B0604020202020204" pitchFamily="34" charset="0"/>
                        <a:ea typeface="Times New Roman" panose="02020603050405020304" pitchFamily="18" charset="0"/>
                        <a:cs typeface="Helvetica" panose="020B0604020202020204" pitchFamily="34" charset="0"/>
                      </a:endParaRPr>
                    </a:p>
                  </a:txBody>
                  <a:tcPr marL="64770" marR="43815" marT="24765" marB="0" anchor="ctr"/>
                </a:tc>
                <a:extLst>
                  <a:ext uri="{0D108BD9-81ED-4DB2-BD59-A6C34878D82A}">
                    <a16:rowId xmlns:a16="http://schemas.microsoft.com/office/drawing/2014/main" val="1676973631"/>
                  </a:ext>
                </a:extLst>
              </a:tr>
            </a:tbl>
          </a:graphicData>
        </a:graphic>
      </p:graphicFrame>
      <p:sp>
        <p:nvSpPr>
          <p:cNvPr id="5" name="CasetăText 4">
            <a:extLst>
              <a:ext uri="{FF2B5EF4-FFF2-40B4-BE49-F238E27FC236}">
                <a16:creationId xmlns:a16="http://schemas.microsoft.com/office/drawing/2014/main" id="{8130DFE3-5F13-DFE4-4A46-39FFD7B57EC8}"/>
              </a:ext>
            </a:extLst>
          </p:cNvPr>
          <p:cNvSpPr txBox="1"/>
          <p:nvPr/>
        </p:nvSpPr>
        <p:spPr>
          <a:xfrm>
            <a:off x="1043887" y="5952048"/>
            <a:ext cx="5006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ro-RO" dirty="0"/>
              <a:t>Toleranta rezistori 0.1% Toleranta condensatori 10%</a:t>
            </a:r>
          </a:p>
        </p:txBody>
      </p:sp>
    </p:spTree>
    <p:extLst>
      <p:ext uri="{BB962C8B-B14F-4D97-AF65-F5344CB8AC3E}">
        <p14:creationId xmlns:p14="http://schemas.microsoft.com/office/powerpoint/2010/main" val="2246101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u 1">
            <a:extLst>
              <a:ext uri="{FF2B5EF4-FFF2-40B4-BE49-F238E27FC236}">
                <a16:creationId xmlns:a16="http://schemas.microsoft.com/office/drawing/2014/main" id="{224ECA14-BA51-4380-F709-8FD1694DFC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>
                <a:cs typeface="Helvetica" panose="020B0604020202020204" pitchFamily="34" charset="0"/>
              </a:rPr>
              <a:t>Dezvoltări</a:t>
            </a:r>
            <a:r>
              <a:rPr lang="en-US" dirty="0">
                <a:cs typeface="Helvetica" panose="020B0604020202020204" pitchFamily="34" charset="0"/>
              </a:rPr>
              <a:t> </a:t>
            </a:r>
            <a:r>
              <a:rPr lang="en-US" dirty="0" err="1">
                <a:cs typeface="Helvetica" panose="020B0604020202020204" pitchFamily="34" charset="0"/>
              </a:rPr>
              <a:t>ulterioare</a:t>
            </a:r>
            <a:endParaRPr lang="ro-RO" dirty="0">
              <a:cs typeface="Helvetica" panose="020B0604020202020204" pitchFamily="34" charset="0"/>
            </a:endParaRPr>
          </a:p>
        </p:txBody>
      </p:sp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E0986870-AF4B-23D8-9C4A-6DA1DF58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>
                <a:latin typeface="Helvetica" panose="020B0604020202020204" pitchFamily="34" charset="0"/>
                <a:cs typeface="Helvetica" panose="020B0604020202020204" pitchFamily="34" charset="0"/>
              </a:rPr>
              <a:pPr/>
              <a:t>15</a:t>
            </a:fld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4" name="Imagine 3" descr="How to Build a Real-Time ECG Monitoring Dashboard in WPF Using a FastLine  Chart | Syncfusion Blogs">
            <a:extLst>
              <a:ext uri="{FF2B5EF4-FFF2-40B4-BE49-F238E27FC236}">
                <a16:creationId xmlns:a16="http://schemas.microsoft.com/office/drawing/2014/main" id="{5436A1C3-E0A6-C63F-3970-78536A7D6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6413" y="2021062"/>
            <a:ext cx="6870940" cy="3530353"/>
          </a:xfrm>
          <a:prstGeom prst="rect">
            <a:avLst/>
          </a:prstGeom>
        </p:spPr>
      </p:pic>
      <p:sp>
        <p:nvSpPr>
          <p:cNvPr id="6" name="CasetăText 5">
            <a:extLst>
              <a:ext uri="{FF2B5EF4-FFF2-40B4-BE49-F238E27FC236}">
                <a16:creationId xmlns:a16="http://schemas.microsoft.com/office/drawing/2014/main" id="{BFABFEBA-EBB4-9C72-5F38-2B7B2B73B26D}"/>
              </a:ext>
            </a:extLst>
          </p:cNvPr>
          <p:cNvSpPr txBox="1"/>
          <p:nvPr/>
        </p:nvSpPr>
        <p:spPr>
          <a:xfrm>
            <a:off x="46053" y="6034495"/>
            <a:ext cx="836331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 err="1">
                <a:latin typeface="Helvetica" panose="020B0604020202020204" pitchFamily="34" charset="0"/>
                <a:cs typeface="Helvetica" panose="020B0604020202020204" pitchFamily="34" charset="0"/>
              </a:rPr>
              <a:t>Sursă</a:t>
            </a:r>
            <a:r>
              <a:rPr lang="en-US" sz="1000" dirty="0">
                <a:latin typeface="Helvetica" panose="020B0604020202020204" pitchFamily="34" charset="0"/>
                <a:cs typeface="Helvetica" panose="020B0604020202020204" pitchFamily="34" charset="0"/>
              </a:rPr>
              <a:t> imagine: </a:t>
            </a:r>
            <a:r>
              <a:rPr lang="en-US" sz="1000" dirty="0" err="1">
                <a:latin typeface="Helvetica" panose="020B0604020202020204" pitchFamily="34" charset="0"/>
                <a:cs typeface="Helvetica" panose="020B0604020202020204" pitchFamily="34" charset="0"/>
              </a:rPr>
              <a:t>Syncfusion</a:t>
            </a:r>
            <a:r>
              <a:rPr lang="en-US" sz="1000" dirty="0">
                <a:latin typeface="Helvetica" panose="020B0604020202020204" pitchFamily="34" charset="0"/>
                <a:cs typeface="Helvetica" panose="020B0604020202020204" pitchFamily="34" charset="0"/>
              </a:rPr>
              <a:t> Blog - "Build a Real-Time ECG Monitoring Dashboard"</a:t>
            </a:r>
            <a:endParaRPr lang="ro-RO" sz="10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1713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54AF-EFB8-073C-AF39-24796BC55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stituent număr diapozitiv 2">
            <a:extLst>
              <a:ext uri="{FF2B5EF4-FFF2-40B4-BE49-F238E27FC236}">
                <a16:creationId xmlns:a16="http://schemas.microsoft.com/office/drawing/2014/main" id="{7AF39A12-921A-93AA-6129-E4E0079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692D2-73C1-47AC-A927-661694947F97}" type="slidenum">
              <a:rPr lang="en-US" smtClean="0">
                <a:latin typeface="Helvetica" panose="020B0604020202020204" pitchFamily="34" charset="0"/>
                <a:cs typeface="Helvetica" panose="020B0604020202020204" pitchFamily="34" charset="0"/>
              </a:rPr>
              <a:pPr/>
              <a:t>16</a:t>
            </a:fld>
            <a:endParaRPr lang="en-US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0B7D60F-F1C4-F01D-BFC8-38AC34B6986E}"/>
              </a:ext>
            </a:extLst>
          </p:cNvPr>
          <p:cNvSpPr txBox="1"/>
          <p:nvPr/>
        </p:nvSpPr>
        <p:spPr>
          <a:xfrm>
            <a:off x="2498558" y="2811960"/>
            <a:ext cx="41468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err="1">
                <a:latin typeface="+mj-lt"/>
              </a:rPr>
              <a:t>Vă</a:t>
            </a:r>
            <a:r>
              <a:rPr lang="en-US" sz="4400" dirty="0">
                <a:latin typeface="+mj-lt"/>
              </a:rPr>
              <a:t> </a:t>
            </a:r>
            <a:r>
              <a:rPr lang="en-US" sz="4400" dirty="0" err="1">
                <a:latin typeface="+mj-lt"/>
              </a:rPr>
              <a:t>mulțumesc</a:t>
            </a:r>
            <a:r>
              <a:rPr lang="en-US" sz="4400" dirty="0">
                <a:latin typeface="+mj-lt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31046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855cab9-8ffd-40f2-9689-e7fe48291e0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FDFA1B42CBC04F81756D0E901BD8DA" ma:contentTypeVersion="15" ma:contentTypeDescription="Create a new document." ma:contentTypeScope="" ma:versionID="5920c78e2fe0efd0ab102dcd7e457e82">
  <xsd:schema xmlns:xsd="http://www.w3.org/2001/XMLSchema" xmlns:xs="http://www.w3.org/2001/XMLSchema" xmlns:p="http://schemas.microsoft.com/office/2006/metadata/properties" xmlns:ns3="a855cab9-8ffd-40f2-9689-e7fe48291e05" xmlns:ns4="5eb12f73-bbd5-4bf7-bd2b-dbe9721a023a" targetNamespace="http://schemas.microsoft.com/office/2006/metadata/properties" ma:root="true" ma:fieldsID="8762865ad781bf5260e4b99410db720a" ns3:_="" ns4:_="">
    <xsd:import namespace="a855cab9-8ffd-40f2-9689-e7fe48291e05"/>
    <xsd:import namespace="5eb12f73-bbd5-4bf7-bd2b-dbe9721a023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55cab9-8ffd-40f2-9689-e7fe48291e0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b12f73-bbd5-4bf7-bd2b-dbe9721a023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013FE33-A4EB-469B-8F6B-AD8B9ADF19D3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terms/"/>
    <ds:schemaRef ds:uri="http://purl.org/dc/elements/1.1/"/>
    <ds:schemaRef ds:uri="5eb12f73-bbd5-4bf7-bd2b-dbe9721a023a"/>
    <ds:schemaRef ds:uri="a855cab9-8ffd-40f2-9689-e7fe48291e05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98FDD366-E166-4385-A5B5-AA91DDFF2CFB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a855cab9-8ffd-40f2-9689-e7fe48291e05"/>
    <ds:schemaRef ds:uri="5eb12f73-bbd5-4bf7-bd2b-dbe9721a023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DBD23A34-C9A3-441D-92FE-3B5B550DCD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3140</TotalTime>
  <Words>351</Words>
  <Application>Microsoft Office PowerPoint</Application>
  <PresentationFormat>Expunere pe ecran (4:3)</PresentationFormat>
  <Paragraphs>135</Paragraphs>
  <Slides>16</Slides>
  <Notes>1</Notes>
  <HiddenSlides>0</HiddenSlides>
  <MMClips>0</MMClips>
  <ScaleCrop>false</ScaleCrop>
  <HeadingPairs>
    <vt:vector size="6" baseType="variant">
      <vt:variant>
        <vt:lpstr>Fonturi utilizate</vt:lpstr>
      </vt:variant>
      <vt:variant>
        <vt:i4>5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16</vt:i4>
      </vt:variant>
    </vt:vector>
  </HeadingPairs>
  <TitlesOfParts>
    <vt:vector size="22" baseType="lpstr">
      <vt:lpstr>Calibri</vt:lpstr>
      <vt:lpstr>Calibri Light</vt:lpstr>
      <vt:lpstr>Google Sans Text</vt:lpstr>
      <vt:lpstr>Helvetica</vt:lpstr>
      <vt:lpstr>Times New Roman</vt:lpstr>
      <vt:lpstr>Retrospect</vt:lpstr>
      <vt:lpstr> Design and Implementation of an ECG Analog  Front-End     Bota Andrei-Daniel, Robert Groza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Illumination for Large Area Buildings Using RF Communication  Lorant A. Szolga, Boca Mihai</dc:title>
  <dc:creator>Lorant Szolga</dc:creator>
  <cp:lastModifiedBy>Andrei Daniel Bota</cp:lastModifiedBy>
  <cp:revision>10</cp:revision>
  <dcterms:created xsi:type="dcterms:W3CDTF">2020-11-06T08:02:24Z</dcterms:created>
  <dcterms:modified xsi:type="dcterms:W3CDTF">2026-06-13T08:55:26Z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0x01010065FDFA1B42CBC04F81756D0E901BD8DA</vt:lpwstr>
  </property>
  <property fmtid="{D5CDD505-2E9C-101B-9397-08002B2CF9AE}" pid="3" name="MSIP_Label_5b58b62f-6f94-46bd-8089-18e64b0a9abb_Enabled">
    <vt:lpwstr>true</vt:lpwstr>
  </property>
  <property fmtid="{D5CDD505-2E9C-101B-9397-08002B2CF9AE}" pid="4" name="MSIP_Label_5b58b62f-6f94-46bd-8089-18e64b0a9abb_SetDate">
    <vt:lpwstr>2023-05-22T08:53:47Z</vt:lpwstr>
  </property>
  <property fmtid="{D5CDD505-2E9C-101B-9397-08002B2CF9AE}" pid="5" name="MSIP_Label_5b58b62f-6f94-46bd-8089-18e64b0a9abb_Method">
    <vt:lpwstr>Standard</vt:lpwstr>
  </property>
  <property fmtid="{D5CDD505-2E9C-101B-9397-08002B2CF9AE}" pid="6" name="MSIP_Label_5b58b62f-6f94-46bd-8089-18e64b0a9abb_Name">
    <vt:lpwstr>defa4170-0d19-0005-0004-bc88714345d2</vt:lpwstr>
  </property>
  <property fmtid="{D5CDD505-2E9C-101B-9397-08002B2CF9AE}" pid="7" name="MSIP_Label_5b58b62f-6f94-46bd-8089-18e64b0a9abb_SiteId">
    <vt:lpwstr>a6eb79fa-c4a9-4cce-818d-b85274d15305</vt:lpwstr>
  </property>
  <property fmtid="{D5CDD505-2E9C-101B-9397-08002B2CF9AE}" pid="8" name="MSIP_Label_5b58b62f-6f94-46bd-8089-18e64b0a9abb_ActionId">
    <vt:lpwstr>2c31f2cf-1b01-4661-af17-e54150cf9ecf</vt:lpwstr>
  </property>
  <property fmtid="{D5CDD505-2E9C-101B-9397-08002B2CF9AE}" pid="9" name="MSIP_Label_5b58b62f-6f94-46bd-8089-18e64b0a9abb_ContentBits">
    <vt:lpwstr>0</vt:lpwstr>
  </property>
</Properties>
</file>