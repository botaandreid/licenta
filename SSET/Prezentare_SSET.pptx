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7" r:id="rId4"/>
  </p:sldMasterIdLst>
  <p:notesMasterIdLst>
    <p:notesMasterId r:id="rId21"/>
  </p:notesMasterIdLst>
  <p:sldIdLst>
    <p:sldId id="256" r:id="rId5"/>
    <p:sldId id="258" r:id="rId6"/>
    <p:sldId id="259" r:id="rId7"/>
    <p:sldId id="267" r:id="rId8"/>
    <p:sldId id="266" r:id="rId9"/>
    <p:sldId id="260" r:id="rId10"/>
    <p:sldId id="268" r:id="rId11"/>
    <p:sldId id="262" r:id="rId12"/>
    <p:sldId id="261" r:id="rId13"/>
    <p:sldId id="263" r:id="rId14"/>
    <p:sldId id="264" r:id="rId15"/>
    <p:sldId id="265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D4D4D4"/>
    <a:srgbClr val="0000FF"/>
    <a:srgbClr val="9EDCF8"/>
    <a:srgbClr val="99CCFF"/>
    <a:srgbClr val="353EAB"/>
    <a:srgbClr val="1F13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C6F9-8BB2-43FC-B833-03781BF3585D}" v="63" dt="2026-05-11T17:30:04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Stil mediu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Fără stil, grilă tabel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7" autoAdjust="0"/>
  </p:normalViewPr>
  <p:slideViewPr>
    <p:cSldViewPr snapToGrid="0">
      <p:cViewPr>
        <p:scale>
          <a:sx n="125" d="100"/>
          <a:sy n="125" d="100"/>
        </p:scale>
        <p:origin x="11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CCD3D-2CAC-46AC-ABB8-0FDC76571CD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40F9E-F843-4F8B-B3DA-CBB122884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1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40F9E-F843-4F8B-B3DA-CBB1228841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8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B6FBF7D-DB86-4986-A405-59AC8A128E03}"/>
              </a:ext>
            </a:extLst>
          </p:cNvPr>
          <p:cNvSpPr/>
          <p:nvPr userDrawn="1"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rgbClr val="1F1355"/>
          </a:solidFill>
          <a:ln>
            <a:solidFill>
              <a:srgbClr val="1F1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5F8E-FC7F-409C-903B-8D12AE73B4AC}" type="datetime1">
              <a:rPr lang="en-US" smtClean="0"/>
              <a:t>5/11/2026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183499-2AE2-D1E8-1CBC-EEA72DC9ACA7}"/>
              </a:ext>
            </a:extLst>
          </p:cNvPr>
          <p:cNvGrpSpPr/>
          <p:nvPr userDrawn="1"/>
        </p:nvGrpSpPr>
        <p:grpSpPr>
          <a:xfrm>
            <a:off x="91407" y="1"/>
            <a:ext cx="8707631" cy="962951"/>
            <a:chOff x="91407" y="1"/>
            <a:chExt cx="8707631" cy="9629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D2EC30-883D-E5FF-6020-64BE8AE65A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738100" y="48552"/>
              <a:ext cx="1060938" cy="914400"/>
            </a:xfrm>
            <a:prstGeom prst="rect">
              <a:avLst/>
            </a:prstGeom>
          </p:spPr>
        </p:pic>
        <p:pic>
          <p:nvPicPr>
            <p:cNvPr id="12" name="Picture 11" descr="A logo with black text&#10;&#10;AI-generated content may be incorrect.">
              <a:extLst>
                <a:ext uri="{FF2B5EF4-FFF2-40B4-BE49-F238E27FC236}">
                  <a16:creationId xmlns:a16="http://schemas.microsoft.com/office/drawing/2014/main" id="{7E37CF6A-7CAA-14E2-0F06-7E4CA3C77D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1407" y="48552"/>
              <a:ext cx="1195322" cy="9144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FBC991C-D0BB-1BCD-F067-754F6F6818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576680" y="1"/>
              <a:ext cx="1674055" cy="9144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9F0EF0D-2C21-4F0C-1873-1A6DA48D821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16683" y="962952"/>
            <a:ext cx="4965234" cy="11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91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B6FBF7D-DB86-4986-A405-59AC8A128E03}"/>
              </a:ext>
            </a:extLst>
          </p:cNvPr>
          <p:cNvSpPr/>
          <p:nvPr userDrawn="1"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rgbClr val="353EAB"/>
          </a:solidFill>
          <a:ln>
            <a:solidFill>
              <a:srgbClr val="353E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rgbClr val="1F1355"/>
          </a:solidFill>
          <a:ln>
            <a:solidFill>
              <a:srgbClr val="1F1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736" y="1021938"/>
            <a:ext cx="7543800" cy="3840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fld id="{0C2932F5-3A43-45A4-941F-884BA3AD6238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E42692D2-73C1-47AC-A927-661694947F9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1736" y="1405991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183499-2AE2-D1E8-1CBC-EEA72DC9ACA7}"/>
              </a:ext>
            </a:extLst>
          </p:cNvPr>
          <p:cNvGrpSpPr/>
          <p:nvPr userDrawn="1"/>
        </p:nvGrpSpPr>
        <p:grpSpPr>
          <a:xfrm>
            <a:off x="91407" y="1"/>
            <a:ext cx="8707631" cy="962951"/>
            <a:chOff x="91407" y="1"/>
            <a:chExt cx="8707631" cy="9629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D2EC30-883D-E5FF-6020-64BE8AE65A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738100" y="48552"/>
              <a:ext cx="1060938" cy="914400"/>
            </a:xfrm>
            <a:prstGeom prst="rect">
              <a:avLst/>
            </a:prstGeom>
          </p:spPr>
        </p:pic>
        <p:pic>
          <p:nvPicPr>
            <p:cNvPr id="12" name="Picture 11" descr="A logo with black text&#10;&#10;AI-generated content may be incorrect.">
              <a:extLst>
                <a:ext uri="{FF2B5EF4-FFF2-40B4-BE49-F238E27FC236}">
                  <a16:creationId xmlns:a16="http://schemas.microsoft.com/office/drawing/2014/main" id="{7E37CF6A-7CAA-14E2-0F06-7E4CA3C77D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1407" y="48552"/>
              <a:ext cx="1195322" cy="9144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FBC991C-D0BB-1BCD-F067-754F6F6818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576680" y="1"/>
              <a:ext cx="1674055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60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rgbClr val="1F1355"/>
          </a:solidFill>
          <a:ln>
            <a:solidFill>
              <a:srgbClr val="1F1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600849F-58F8-457F-9D54-D948F49614F9}" type="datetime1">
              <a:rPr lang="en-US" smtClean="0"/>
              <a:t>5/11/2026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DCF69A-9187-0130-2385-FE97D1B9EF3D}"/>
              </a:ext>
            </a:extLst>
          </p:cNvPr>
          <p:cNvGrpSpPr/>
          <p:nvPr userDrawn="1"/>
        </p:nvGrpSpPr>
        <p:grpSpPr>
          <a:xfrm>
            <a:off x="91407" y="1"/>
            <a:ext cx="8707631" cy="962951"/>
            <a:chOff x="91407" y="1"/>
            <a:chExt cx="8707631" cy="9629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AB41D6-1407-59B0-4765-5837DE8CE2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7738100" y="48552"/>
              <a:ext cx="1060938" cy="914400"/>
            </a:xfrm>
            <a:prstGeom prst="rect">
              <a:avLst/>
            </a:prstGeom>
          </p:spPr>
        </p:pic>
        <p:pic>
          <p:nvPicPr>
            <p:cNvPr id="12" name="Picture 11" descr="A logo with black text&#10;&#10;AI-generated content may be incorrect.">
              <a:extLst>
                <a:ext uri="{FF2B5EF4-FFF2-40B4-BE49-F238E27FC236}">
                  <a16:creationId xmlns:a16="http://schemas.microsoft.com/office/drawing/2014/main" id="{F370A2DA-7002-B104-6531-9FBFD24FCF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1407" y="48552"/>
              <a:ext cx="1195322" cy="9144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0776837-AA36-7E06-078E-664DCD7F2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3576680" y="1"/>
              <a:ext cx="1674055" cy="9144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C48A412-D50B-351B-EEE1-5327F8F6146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916683" y="962952"/>
            <a:ext cx="4965234" cy="11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3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5712-8457-4AB7-8812-8F5799FCC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2588628"/>
            <a:ext cx="8737600" cy="1680744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700" b="1" noProof="1"/>
            </a:br>
            <a:r>
              <a:rPr lang="en-US" sz="3600" b="1" noProof="1"/>
              <a:t>Design and Implementation of an ECG Analog </a:t>
            </a:r>
            <a:br>
              <a:rPr lang="en-US" sz="3600" b="1" noProof="1"/>
            </a:br>
            <a:r>
              <a:rPr lang="en-US" sz="3600" b="1" noProof="1"/>
              <a:t>Front-End  </a:t>
            </a:r>
            <a:br>
              <a:rPr lang="en-US" noProof="1"/>
            </a:br>
            <a:br>
              <a:rPr lang="en-US" sz="1400" b="1" noProof="1"/>
            </a:br>
            <a:br>
              <a:rPr lang="en-US" sz="4400" b="1" noProof="1"/>
            </a:br>
            <a:r>
              <a:rPr lang="en-US" sz="2700" b="1" noProof="1"/>
              <a:t>Bota Andrei-Daniel, Robert Groza</a:t>
            </a:r>
            <a:endParaRPr lang="en-US" sz="2700" noProof="1">
              <a:solidFill>
                <a:srgbClr val="262626"/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86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ABCAB28-3F4B-AD72-7D27-C04A30351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SCHEMA BLOC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80EBF6-FA92-5C6D-DD77-5ECA42641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2</a:t>
            </a:fld>
            <a:endParaRPr lang="en-US" noProof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6AF10-CC4D-6099-68F5-D0F862337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5990"/>
            <a:ext cx="9144000" cy="476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7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AA48-923A-0EFF-2566-EB549209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2DD8D9D-1BE8-283D-BD7E-54E529AFEF38}"/>
              </a:ext>
            </a:extLst>
          </p:cNvPr>
          <p:cNvSpPr/>
          <p:nvPr/>
        </p:nvSpPr>
        <p:spPr>
          <a:xfrm>
            <a:off x="1" y="910149"/>
            <a:ext cx="9144000" cy="54296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6B631DC-E251-E0E6-D9D2-0E5629394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Electrozi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329988-F935-8D52-7B56-41BA200E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3</a:t>
            </a:fld>
            <a:endParaRPr lang="en-U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73A0A3-89A8-42FA-03B8-D882B813E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4091" y="1405990"/>
            <a:ext cx="9144000" cy="4765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A7B5C7-4563-4A1F-287F-3C64F659F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767000" y="-67249184"/>
            <a:ext cx="350931899" cy="18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01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1B89F-34FC-B831-CF04-802206D67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63A6E1-2A13-3916-EF72-C444861F1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16" y="1679493"/>
            <a:ext cx="4203484" cy="3721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63373A-913E-0285-0BEF-91B05F4BE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10965"/>
            <a:ext cx="4114799" cy="368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9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0B044-E67E-10AA-38A9-34733D75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885A613-55AE-2BAA-0593-6DDFBD4708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pROTECTIE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B6EB1-D7B9-311F-ADCE-AD3CA9CC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A3A5DA-1637-84E2-4F64-A3176385E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461"/>
            <a:ext cx="9144000" cy="462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4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C69B-F684-2BAB-BF26-2E437151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44DE77B-BCF5-17D2-7BF2-D05C14721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Rld circuit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1FC154-14AD-F3D0-8EDE-C8D9E6B8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6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78BB7-4C1F-9C4F-8579-EE209D40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5990"/>
            <a:ext cx="9144000" cy="462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5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A0D2-275F-9801-3706-B090AFE0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995F60B-C5A8-93FD-1230-F51F4A612C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Rld circuit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BA5A69-82E1-2886-C517-DEAB2D8E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7</a:t>
            </a:fld>
            <a:endParaRPr lang="en-US" noProof="1"/>
          </a:p>
        </p:txBody>
      </p:sp>
      <p:pic>
        <p:nvPicPr>
          <p:cNvPr id="17" name="Imagine 16">
            <a:extLst>
              <a:ext uri="{FF2B5EF4-FFF2-40B4-BE49-F238E27FC236}">
                <a16:creationId xmlns:a16="http://schemas.microsoft.com/office/drawing/2014/main" id="{D75B8FF5-6EE2-D451-EAFF-9AE2D7855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44" y="2001442"/>
            <a:ext cx="4195173" cy="3309449"/>
          </a:xfrm>
          <a:prstGeom prst="rect">
            <a:avLst/>
          </a:prstGeom>
        </p:spPr>
      </p:pic>
      <p:pic>
        <p:nvPicPr>
          <p:cNvPr id="19" name="Imagine 18">
            <a:extLst>
              <a:ext uri="{FF2B5EF4-FFF2-40B4-BE49-F238E27FC236}">
                <a16:creationId xmlns:a16="http://schemas.microsoft.com/office/drawing/2014/main" id="{7AB08509-5ED5-F1FC-8DA6-87123FCA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2" y="2001442"/>
            <a:ext cx="4195172" cy="330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63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26B8-5932-F140-1D59-8D938BD4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A1B818B-B9E9-AE60-4CB7-C1D16124F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Psu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085DA7-51AD-F983-EF1E-0644AE91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8</a:t>
            </a:fld>
            <a:endParaRPr lang="en-US" noProof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755B85-9E19-CEC2-8756-036783A02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0687"/>
            <a:ext cx="9144000" cy="462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8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9FFE-39AE-5FEF-C6F0-C1CED449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29576F0-6627-CABF-3F2A-80BF0E9A2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Ina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9D9D78-F6D8-B06D-A9BF-73D013CE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9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38FCC-53F6-CA98-77E1-54D59D220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598" y="1405990"/>
            <a:ext cx="9144000" cy="4626854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52B36D1C-160B-36AD-B8AC-F91B88471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8" y="2893114"/>
            <a:ext cx="2637611" cy="188843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3B0BB61C-E836-CBDE-992E-E8ABB259A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467" y="2893115"/>
            <a:ext cx="2737879" cy="188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5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2A55-EA43-6110-4510-22D96400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5130175-FF6E-6959-0F05-9FC962174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A17694-647B-9158-7314-E42E05BC9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dirty="0" smtClean="0"/>
              <a:pPr/>
              <a:t>10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0091F-A4D5-F699-7772-3C7F163AE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2309" y="576238"/>
            <a:ext cx="6730569" cy="3405661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56557806-6192-2E40-562C-5F1337639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1594838"/>
            <a:ext cx="4057650" cy="3668324"/>
          </a:xfrm>
          <a:prstGeom prst="rect">
            <a:avLst/>
          </a:prstGeom>
        </p:spPr>
      </p:pic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7994A88C-AD51-33E3-60E6-7FF00623F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997043"/>
              </p:ext>
            </p:extLst>
          </p:nvPr>
        </p:nvGraphicFramePr>
        <p:xfrm>
          <a:off x="533963" y="3809096"/>
          <a:ext cx="3439673" cy="1767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9608">
                  <a:extLst>
                    <a:ext uri="{9D8B030D-6E8A-4147-A177-3AD203B41FA5}">
                      <a16:colId xmlns:a16="http://schemas.microsoft.com/office/drawing/2014/main" val="656949419"/>
                    </a:ext>
                  </a:extLst>
                </a:gridCol>
                <a:gridCol w="901454">
                  <a:extLst>
                    <a:ext uri="{9D8B030D-6E8A-4147-A177-3AD203B41FA5}">
                      <a16:colId xmlns:a16="http://schemas.microsoft.com/office/drawing/2014/main" val="2285104898"/>
                    </a:ext>
                  </a:extLst>
                </a:gridCol>
                <a:gridCol w="1118611">
                  <a:extLst>
                    <a:ext uri="{9D8B030D-6E8A-4147-A177-3AD203B41FA5}">
                      <a16:colId xmlns:a16="http://schemas.microsoft.com/office/drawing/2014/main" val="2389864767"/>
                    </a:ext>
                  </a:extLst>
                </a:gridCol>
              </a:tblGrid>
              <a:tr h="1977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Parametru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Simbol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Valoare Proiectată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00622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Frecvența de tăiere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50m Hz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6027294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Amplificarea nominală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1284775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Frecvența de stop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10m Hz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9097431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Atenuarea la fs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-40 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977042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Număr poli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1239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28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79E9-8EC0-9F17-B387-C47040B95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B4916A8-9754-0B6E-9058-AF3F9F65F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notch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E93FF0-BCC7-2B28-326B-97BC9245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11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9A619-F2BB-8411-E339-0FE3126F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9600" y="1405989"/>
            <a:ext cx="7543800" cy="3771657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B3CE7DD7-661B-9C3D-5970-8D3C06B3F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0" y="1350282"/>
            <a:ext cx="4438650" cy="3771657"/>
          </a:xfrm>
          <a:prstGeom prst="rect">
            <a:avLst/>
          </a:prstGeom>
        </p:spPr>
      </p:pic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CB0F3318-A96F-5F8E-99E1-71C031D57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37743"/>
              </p:ext>
            </p:extLst>
          </p:nvPr>
        </p:nvGraphicFramePr>
        <p:xfrm>
          <a:off x="457200" y="4728100"/>
          <a:ext cx="2819400" cy="14478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6089">
                  <a:extLst>
                    <a:ext uri="{9D8B030D-6E8A-4147-A177-3AD203B41FA5}">
                      <a16:colId xmlns:a16="http://schemas.microsoft.com/office/drawing/2014/main" val="3416729907"/>
                    </a:ext>
                  </a:extLst>
                </a:gridCol>
                <a:gridCol w="1373311">
                  <a:extLst>
                    <a:ext uri="{9D8B030D-6E8A-4147-A177-3AD203B41FA5}">
                      <a16:colId xmlns:a16="http://schemas.microsoft.com/office/drawing/2014/main" val="1203611862"/>
                    </a:ext>
                  </a:extLst>
                </a:gridCol>
              </a:tblGrid>
              <a:tr h="242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noProof="1">
                          <a:effectLst/>
                        </a:rPr>
                        <a:t>Parametru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noProof="1">
                          <a:effectLst/>
                        </a:rPr>
                        <a:t>Valoare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230253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</a:rPr>
                        <a:t>Frecvența de taiere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noProof="1">
                          <a:effectLst/>
                        </a:rPr>
                        <a:t>50 Hz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617113"/>
                  </a:ext>
                </a:extLst>
              </a:tr>
              <a:tr h="4152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Atenuarea la fs</a:t>
                      </a:r>
                      <a:endParaRPr lang="en-US" sz="10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noProof="1">
                          <a:effectLst/>
                        </a:rPr>
                        <a:t>40 dB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7607724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</a:rPr>
                        <a:t>Câștig (A0)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noProof="1">
                          <a:effectLst/>
                        </a:rPr>
                        <a:t>0dB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658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9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3FDD-BB9D-0E5F-CCC9-AFEBDA78F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A1A759C-1B01-5800-721A-28D1FA30A9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ftj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10FFD-54DF-F008-9A10-6E23E4AC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12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339E7-84AA-1FBB-8B85-11FF26B7F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643352"/>
            <a:ext cx="5317251" cy="2690523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DDF2A4CB-0B34-D712-8842-B6F8BAD5D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225" y="1443022"/>
            <a:ext cx="3914775" cy="3539157"/>
          </a:xfrm>
          <a:prstGeom prst="rect">
            <a:avLst/>
          </a:prstGeom>
        </p:spPr>
      </p:pic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C70606AA-0746-46D4-C2F6-5F62D613E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354955"/>
              </p:ext>
            </p:extLst>
          </p:nvPr>
        </p:nvGraphicFramePr>
        <p:xfrm>
          <a:off x="427476" y="4121119"/>
          <a:ext cx="4258824" cy="1722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9608">
                  <a:extLst>
                    <a:ext uri="{9D8B030D-6E8A-4147-A177-3AD203B41FA5}">
                      <a16:colId xmlns:a16="http://schemas.microsoft.com/office/drawing/2014/main" val="656949419"/>
                    </a:ext>
                  </a:extLst>
                </a:gridCol>
                <a:gridCol w="1419608">
                  <a:extLst>
                    <a:ext uri="{9D8B030D-6E8A-4147-A177-3AD203B41FA5}">
                      <a16:colId xmlns:a16="http://schemas.microsoft.com/office/drawing/2014/main" val="2285104898"/>
                    </a:ext>
                  </a:extLst>
                </a:gridCol>
                <a:gridCol w="1419608">
                  <a:extLst>
                    <a:ext uri="{9D8B030D-6E8A-4147-A177-3AD203B41FA5}">
                      <a16:colId xmlns:a16="http://schemas.microsoft.com/office/drawing/2014/main" val="2389864767"/>
                    </a:ext>
                  </a:extLst>
                </a:gridCol>
              </a:tblGrid>
              <a:tr h="1977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Parametru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Simbol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Valoare Proiectată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00622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Frecvența de tăiere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 Hz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284775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Amplificarea nominală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097431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Frecvența de stop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 Hz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977042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Atenuarea la fs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239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Număr poli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92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53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reptunghi 28">
            <a:extLst>
              <a:ext uri="{FF2B5EF4-FFF2-40B4-BE49-F238E27FC236}">
                <a16:creationId xmlns:a16="http://schemas.microsoft.com/office/drawing/2014/main" id="{02FA810C-47DF-0476-9D1E-F95BE4862956}"/>
              </a:ext>
            </a:extLst>
          </p:cNvPr>
          <p:cNvSpPr/>
          <p:nvPr/>
        </p:nvSpPr>
        <p:spPr>
          <a:xfrm rot="5400000">
            <a:off x="4617160" y="-3125253"/>
            <a:ext cx="179264" cy="905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72068670-D9C4-81B0-7438-C692133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13</a:t>
            </a:fld>
            <a:endParaRPr lang="en-US" noProof="1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2842F389-1408-3B3B-0F47-62E3618A6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2940" y="1961266"/>
            <a:ext cx="10195560" cy="4863646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E0EE726D-EAA4-D28E-207D-3CDDD2FA0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90" y="1204052"/>
            <a:ext cx="1610857" cy="1356292"/>
          </a:xfrm>
          <a:prstGeom prst="rect">
            <a:avLst/>
          </a:prstGeom>
        </p:spPr>
      </p:pic>
      <p:pic>
        <p:nvPicPr>
          <p:cNvPr id="15" name="Imagine 14">
            <a:extLst>
              <a:ext uri="{FF2B5EF4-FFF2-40B4-BE49-F238E27FC236}">
                <a16:creationId xmlns:a16="http://schemas.microsoft.com/office/drawing/2014/main" id="{237BF533-214E-1562-341B-8B238CE67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737" y="1247875"/>
            <a:ext cx="1610857" cy="1356291"/>
          </a:xfrm>
          <a:prstGeom prst="rect">
            <a:avLst/>
          </a:prstGeom>
        </p:spPr>
      </p:pic>
      <p:pic>
        <p:nvPicPr>
          <p:cNvPr id="22" name="Imagine 21">
            <a:extLst>
              <a:ext uri="{FF2B5EF4-FFF2-40B4-BE49-F238E27FC236}">
                <a16:creationId xmlns:a16="http://schemas.microsoft.com/office/drawing/2014/main" id="{8B1D39CC-FA21-DEEA-F10A-1190235BF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531" y="1248024"/>
            <a:ext cx="1684543" cy="1312320"/>
          </a:xfrm>
          <a:prstGeom prst="rect">
            <a:avLst/>
          </a:prstGeom>
        </p:spPr>
      </p:pic>
      <p:pic>
        <p:nvPicPr>
          <p:cNvPr id="24" name="Imagine 23">
            <a:extLst>
              <a:ext uri="{FF2B5EF4-FFF2-40B4-BE49-F238E27FC236}">
                <a16:creationId xmlns:a16="http://schemas.microsoft.com/office/drawing/2014/main" id="{8A53DDB9-B67E-74A9-6D6A-9354622B9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5058" y="1248024"/>
            <a:ext cx="1684542" cy="1312320"/>
          </a:xfrm>
          <a:prstGeom prst="rect">
            <a:avLst/>
          </a:prstGeom>
        </p:spPr>
      </p:pic>
      <p:pic>
        <p:nvPicPr>
          <p:cNvPr id="26" name="Imagine 25">
            <a:extLst>
              <a:ext uri="{FF2B5EF4-FFF2-40B4-BE49-F238E27FC236}">
                <a16:creationId xmlns:a16="http://schemas.microsoft.com/office/drawing/2014/main" id="{67BC9C45-44D2-3C07-E6B0-4296F1158B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8263" y="1247875"/>
            <a:ext cx="1610856" cy="135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24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u 1">
            <a:extLst>
              <a:ext uri="{FF2B5EF4-FFF2-40B4-BE49-F238E27FC236}">
                <a16:creationId xmlns:a16="http://schemas.microsoft.com/office/drawing/2014/main" id="{0961A265-ED88-39FE-3406-EE2D484BC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ro-RO" dirty="0"/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457AB36C-689F-EC55-8946-389656D7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E1D16B69-60F0-728C-330F-EFB9EE19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0737"/>
            <a:ext cx="5765949" cy="3262313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11FD61A1-DD05-2328-E905-054C7396D2F3}"/>
              </a:ext>
            </a:extLst>
          </p:cNvPr>
          <p:cNvSpPr txBox="1"/>
          <p:nvPr/>
        </p:nvSpPr>
        <p:spPr>
          <a:xfrm>
            <a:off x="5765948" y="2824892"/>
            <a:ext cx="337805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măsurat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5.38 mV (p-p)</a:t>
            </a:r>
          </a:p>
          <a:p>
            <a:r>
              <a:rPr lang="en-US" sz="1600" b="1" dirty="0"/>
              <a:t>Nivel de </a:t>
            </a:r>
            <a:r>
              <a:rPr lang="en-US" sz="1600" b="1" dirty="0" err="1"/>
              <a:t>zgomot</a:t>
            </a:r>
            <a:r>
              <a:rPr lang="en-US" sz="1600" b="1" dirty="0"/>
              <a:t> </a:t>
            </a:r>
            <a:r>
              <a:rPr lang="en-US" sz="1600" b="1" dirty="0" err="1"/>
              <a:t>referit</a:t>
            </a:r>
            <a:r>
              <a:rPr lang="en-US" sz="1600" b="1" dirty="0"/>
              <a:t> la </a:t>
            </a:r>
            <a:r>
              <a:rPr lang="en-US" sz="1600" b="1" dirty="0" err="1"/>
              <a:t>intrare</a:t>
            </a:r>
            <a:r>
              <a:rPr lang="en-US" sz="1600" b="1" dirty="0"/>
              <a:t> (RTI):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10.76µV</a:t>
            </a:r>
          </a:p>
          <a:p>
            <a:r>
              <a:rPr lang="en-US" sz="1600" b="1" dirty="0" err="1"/>
              <a:t>Normă</a:t>
            </a:r>
            <a:r>
              <a:rPr lang="en-US" sz="1600" b="1" dirty="0"/>
              <a:t> Diagnostic Medical (IEC):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30 µV</a:t>
            </a:r>
          </a:p>
        </p:txBody>
      </p:sp>
    </p:spTree>
    <p:extLst>
      <p:ext uri="{BB962C8B-B14F-4D97-AF65-F5344CB8AC3E}">
        <p14:creationId xmlns:p14="http://schemas.microsoft.com/office/powerpoint/2010/main" val="1105917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u 1">
            <a:extLst>
              <a:ext uri="{FF2B5EF4-FFF2-40B4-BE49-F238E27FC236}">
                <a16:creationId xmlns:a16="http://schemas.microsoft.com/office/drawing/2014/main" id="{25E5F38E-032D-FB9E-5070-521EE96F85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PCB SCHEMATIC</a:t>
            </a:r>
            <a:endParaRPr lang="ro-RO" dirty="0"/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374EC405-29B0-C03A-1D40-FC8C1428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DD3EE223-E614-E24D-79A3-9E1CF4E56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1405990"/>
            <a:ext cx="11404600" cy="8063696"/>
          </a:xfrm>
          <a:prstGeom prst="rect">
            <a:avLst/>
          </a:prstGeom>
        </p:spPr>
      </p:pic>
      <p:sp>
        <p:nvSpPr>
          <p:cNvPr id="8" name="Dreptunghi 7">
            <a:extLst>
              <a:ext uri="{FF2B5EF4-FFF2-40B4-BE49-F238E27FC236}">
                <a16:creationId xmlns:a16="http://schemas.microsoft.com/office/drawing/2014/main" id="{C3098FB1-C368-BF31-40F4-7FD9B32DD467}"/>
              </a:ext>
            </a:extLst>
          </p:cNvPr>
          <p:cNvSpPr/>
          <p:nvPr/>
        </p:nvSpPr>
        <p:spPr>
          <a:xfrm>
            <a:off x="136772" y="1625600"/>
            <a:ext cx="179264" cy="523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7636E068-1BF2-6874-03A5-49559F6AFEE2}"/>
              </a:ext>
            </a:extLst>
          </p:cNvPr>
          <p:cNvSpPr/>
          <p:nvPr/>
        </p:nvSpPr>
        <p:spPr>
          <a:xfrm rot="5400000">
            <a:off x="4678120" y="-2828238"/>
            <a:ext cx="179264" cy="905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29140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ine 29">
            <a:extLst>
              <a:ext uri="{FF2B5EF4-FFF2-40B4-BE49-F238E27FC236}">
                <a16:creationId xmlns:a16="http://schemas.microsoft.com/office/drawing/2014/main" id="{A58DC2BA-F0E1-BCA5-4E2A-3B54EE28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3905238"/>
            <a:ext cx="4432300" cy="2390974"/>
          </a:xfrm>
          <a:prstGeom prst="rect">
            <a:avLst/>
          </a:prstGeom>
        </p:spPr>
      </p:pic>
      <p:sp>
        <p:nvSpPr>
          <p:cNvPr id="2" name="Subtitlu 1">
            <a:extLst>
              <a:ext uri="{FF2B5EF4-FFF2-40B4-BE49-F238E27FC236}">
                <a16:creationId xmlns:a16="http://schemas.microsoft.com/office/drawing/2014/main" id="{51DB47C4-6B9F-C10C-C95A-AC9648674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LAYOUT</a:t>
            </a:r>
            <a:endParaRPr lang="ro-RO" dirty="0"/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7CDE166C-48EB-5A8C-088F-1CF2B036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865E092D-5416-148D-2983-FF1101ED6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36" y="2114849"/>
            <a:ext cx="3797986" cy="3320752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A5BE3F7-7386-44C8-3C40-57E67033A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444488"/>
            <a:ext cx="4432300" cy="2390974"/>
          </a:xfrm>
          <a:prstGeom prst="rect">
            <a:avLst/>
          </a:prstGeom>
        </p:spPr>
      </p:pic>
      <p:sp>
        <p:nvSpPr>
          <p:cNvPr id="10" name="Dreptunghi 9">
            <a:extLst>
              <a:ext uri="{FF2B5EF4-FFF2-40B4-BE49-F238E27FC236}">
                <a16:creationId xmlns:a16="http://schemas.microsoft.com/office/drawing/2014/main" id="{5DDB342B-92A8-6A5F-1CA7-EB888406566C}"/>
              </a:ext>
            </a:extLst>
          </p:cNvPr>
          <p:cNvSpPr/>
          <p:nvPr/>
        </p:nvSpPr>
        <p:spPr>
          <a:xfrm>
            <a:off x="6407944" y="2524125"/>
            <a:ext cx="1288256" cy="114776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D6D90985-2FAD-BDB8-B8A4-C607616CDFD2}"/>
              </a:ext>
            </a:extLst>
          </p:cNvPr>
          <p:cNvSpPr txBox="1"/>
          <p:nvPr/>
        </p:nvSpPr>
        <p:spPr>
          <a:xfrm>
            <a:off x="6560344" y="2485627"/>
            <a:ext cx="509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</a:t>
            </a:r>
            <a:endParaRPr lang="ro-RO" sz="1000" b="1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8040D657-3C55-2C52-25A4-2F3BC1682418}"/>
              </a:ext>
            </a:extLst>
          </p:cNvPr>
          <p:cNvSpPr/>
          <p:nvPr/>
        </p:nvSpPr>
        <p:spPr>
          <a:xfrm>
            <a:off x="5083969" y="2524125"/>
            <a:ext cx="1323975" cy="1147763"/>
          </a:xfrm>
          <a:prstGeom prst="rect">
            <a:avLst/>
          </a:prstGeom>
          <a:noFill/>
          <a:ln>
            <a:solidFill>
              <a:srgbClr val="CC0099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99A4B280-B533-7569-B140-F1FC4029022E}"/>
              </a:ext>
            </a:extLst>
          </p:cNvPr>
          <p:cNvSpPr txBox="1"/>
          <p:nvPr/>
        </p:nvSpPr>
        <p:spPr>
          <a:xfrm>
            <a:off x="5012142" y="2485627"/>
            <a:ext cx="1433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PROTECTIE,ACHIZITIE SEMNAL</a:t>
            </a:r>
            <a:endParaRPr lang="ro-RO" sz="800" b="1" i="1" dirty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5F981BA4-7031-E9C2-C47F-F1F65C6A9853}"/>
              </a:ext>
            </a:extLst>
          </p:cNvPr>
          <p:cNvSpPr/>
          <p:nvPr/>
        </p:nvSpPr>
        <p:spPr>
          <a:xfrm>
            <a:off x="6407944" y="1590675"/>
            <a:ext cx="1288256" cy="93345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6E439AE4-F458-75EB-193D-D3824E97EA04}"/>
              </a:ext>
            </a:extLst>
          </p:cNvPr>
          <p:cNvSpPr txBox="1"/>
          <p:nvPr/>
        </p:nvSpPr>
        <p:spPr>
          <a:xfrm>
            <a:off x="6375400" y="1583622"/>
            <a:ext cx="5524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NOTCH</a:t>
            </a:r>
            <a:endParaRPr lang="ro-RO" sz="8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id="{DDFF3315-BF22-8DF0-C994-430319126D1C}"/>
              </a:ext>
            </a:extLst>
          </p:cNvPr>
          <p:cNvSpPr txBox="1"/>
          <p:nvPr/>
        </p:nvSpPr>
        <p:spPr>
          <a:xfrm>
            <a:off x="7035800" y="1558035"/>
            <a:ext cx="5524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FTJ</a:t>
            </a:r>
            <a:endParaRPr lang="ro-RO" sz="8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71061EE3-8CDF-D32E-E88F-C65EA76605A2}"/>
              </a:ext>
            </a:extLst>
          </p:cNvPr>
          <p:cNvSpPr/>
          <p:nvPr/>
        </p:nvSpPr>
        <p:spPr>
          <a:xfrm>
            <a:off x="5083969" y="1587149"/>
            <a:ext cx="1323975" cy="933450"/>
          </a:xfrm>
          <a:prstGeom prst="rect">
            <a:avLst/>
          </a:prstGeom>
          <a:noFill/>
          <a:ln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8DC4F912-15DE-C7D7-628A-700997DF9A90}"/>
              </a:ext>
            </a:extLst>
          </p:cNvPr>
          <p:cNvSpPr txBox="1"/>
          <p:nvPr/>
        </p:nvSpPr>
        <p:spPr>
          <a:xfrm>
            <a:off x="5963446" y="1592340"/>
            <a:ext cx="5524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FTS</a:t>
            </a:r>
            <a:endParaRPr lang="ro-RO" sz="800" b="1" i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asetăText 19">
            <a:extLst>
              <a:ext uri="{FF2B5EF4-FFF2-40B4-BE49-F238E27FC236}">
                <a16:creationId xmlns:a16="http://schemas.microsoft.com/office/drawing/2014/main" id="{0B960E29-60F0-A685-3EEB-F02CDDC115C0}"/>
              </a:ext>
            </a:extLst>
          </p:cNvPr>
          <p:cNvSpPr txBox="1"/>
          <p:nvPr/>
        </p:nvSpPr>
        <p:spPr>
          <a:xfrm>
            <a:off x="5097069" y="1583622"/>
            <a:ext cx="552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VREF,</a:t>
            </a:r>
          </a:p>
          <a:p>
            <a:r>
              <a:rPr lang="en-US" sz="8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RLD</a:t>
            </a:r>
            <a:endParaRPr lang="ro-RO" sz="800" b="1" i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Conector drept 21">
            <a:extLst>
              <a:ext uri="{FF2B5EF4-FFF2-40B4-BE49-F238E27FC236}">
                <a16:creationId xmlns:a16="http://schemas.microsoft.com/office/drawing/2014/main" id="{6EC5EBB9-966C-F384-AC7E-5FF1AB049270}"/>
              </a:ext>
            </a:extLst>
          </p:cNvPr>
          <p:cNvCxnSpPr>
            <a:cxnSpLocks/>
          </p:cNvCxnSpPr>
          <p:nvPr/>
        </p:nvCxnSpPr>
        <p:spPr>
          <a:xfrm>
            <a:off x="5198669" y="4057650"/>
            <a:ext cx="0" cy="208711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CasetăText 22">
            <a:extLst>
              <a:ext uri="{FF2B5EF4-FFF2-40B4-BE49-F238E27FC236}">
                <a16:creationId xmlns:a16="http://schemas.microsoft.com/office/drawing/2014/main" id="{6E43A811-6C1A-348F-EC47-DF6EF6FBA483}"/>
              </a:ext>
            </a:extLst>
          </p:cNvPr>
          <p:cNvSpPr txBox="1"/>
          <p:nvPr/>
        </p:nvSpPr>
        <p:spPr>
          <a:xfrm rot="16200000">
            <a:off x="4575858" y="4969919"/>
            <a:ext cx="984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37.5 mm</a:t>
            </a:r>
            <a:endParaRPr lang="ro-RO" sz="1100" dirty="0">
              <a:solidFill>
                <a:schemeClr val="bg1"/>
              </a:solidFill>
            </a:endParaRPr>
          </a:p>
        </p:txBody>
      </p:sp>
      <p:cxnSp>
        <p:nvCxnSpPr>
          <p:cNvPr id="24" name="Conector drept 23">
            <a:extLst>
              <a:ext uri="{FF2B5EF4-FFF2-40B4-BE49-F238E27FC236}">
                <a16:creationId xmlns:a16="http://schemas.microsoft.com/office/drawing/2014/main" id="{49721EA0-490C-BE83-5884-47BD7EBB4203}"/>
              </a:ext>
            </a:extLst>
          </p:cNvPr>
          <p:cNvCxnSpPr>
            <a:cxnSpLocks/>
          </p:cNvCxnSpPr>
          <p:nvPr/>
        </p:nvCxnSpPr>
        <p:spPr>
          <a:xfrm>
            <a:off x="5251450" y="6217980"/>
            <a:ext cx="2462609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CasetăText 27">
            <a:extLst>
              <a:ext uri="{FF2B5EF4-FFF2-40B4-BE49-F238E27FC236}">
                <a16:creationId xmlns:a16="http://schemas.microsoft.com/office/drawing/2014/main" id="{13A8BA9A-639C-15FC-72EC-C98DC14A65E7}"/>
              </a:ext>
            </a:extLst>
          </p:cNvPr>
          <p:cNvSpPr txBox="1"/>
          <p:nvPr/>
        </p:nvSpPr>
        <p:spPr>
          <a:xfrm>
            <a:off x="6239670" y="6013963"/>
            <a:ext cx="984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42 mm</a:t>
            </a:r>
            <a:endParaRPr lang="ro-RO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123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FDFA1B42CBC04F81756D0E901BD8DA" ma:contentTypeVersion="15" ma:contentTypeDescription="Create a new document." ma:contentTypeScope="" ma:versionID="5920c78e2fe0efd0ab102dcd7e457e82">
  <xsd:schema xmlns:xsd="http://www.w3.org/2001/XMLSchema" xmlns:xs="http://www.w3.org/2001/XMLSchema" xmlns:p="http://schemas.microsoft.com/office/2006/metadata/properties" xmlns:ns3="a855cab9-8ffd-40f2-9689-e7fe48291e05" xmlns:ns4="5eb12f73-bbd5-4bf7-bd2b-dbe9721a023a" targetNamespace="http://schemas.microsoft.com/office/2006/metadata/properties" ma:root="true" ma:fieldsID="8762865ad781bf5260e4b99410db720a" ns3:_="" ns4:_="">
    <xsd:import namespace="a855cab9-8ffd-40f2-9689-e7fe48291e05"/>
    <xsd:import namespace="5eb12f73-bbd5-4bf7-bd2b-dbe9721a023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5cab9-8ffd-40f2-9689-e7fe48291e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b12f73-bbd5-4bf7-bd2b-dbe9721a023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55cab9-8ffd-40f2-9689-e7fe48291e0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FDD366-E166-4385-A5B5-AA91DDFF2C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55cab9-8ffd-40f2-9689-e7fe48291e05"/>
    <ds:schemaRef ds:uri="5eb12f73-bbd5-4bf7-bd2b-dbe9721a02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13FE33-A4EB-469B-8F6B-AD8B9ADF19D3}">
  <ds:schemaRefs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a855cab9-8ffd-40f2-9689-e7fe48291e05"/>
    <ds:schemaRef ds:uri="http://schemas.microsoft.com/office/infopath/2007/PartnerControls"/>
    <ds:schemaRef ds:uri="http://schemas.openxmlformats.org/package/2006/metadata/core-properties"/>
    <ds:schemaRef ds:uri="5eb12f73-bbd5-4bf7-bd2b-dbe9721a023a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BD23A34-C9A3-441D-92FE-3B5B550DCD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2891</TotalTime>
  <Words>171</Words>
  <Application>Microsoft Office PowerPoint</Application>
  <PresentationFormat>Expunere pe ecran (4:3)</PresentationFormat>
  <Paragraphs>86</Paragraphs>
  <Slides>16</Slides>
  <Notes>1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Google Sans Text</vt:lpstr>
      <vt:lpstr>Times New Roman</vt:lpstr>
      <vt:lpstr>Retrospect</vt:lpstr>
      <vt:lpstr> Design and Implementation of an ECG Analog  Front-End     Bota Andrei-Daniel, Robert Groza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Illumination for Large Area Buildings Using RF Communication  Lorant A. Szolga, Boca Mihai</dc:title>
  <dc:creator>Lorant Szolga</dc:creator>
  <cp:lastModifiedBy>Andrei Daniel Bota</cp:lastModifiedBy>
  <cp:revision>9</cp:revision>
  <dcterms:created xsi:type="dcterms:W3CDTF">2020-11-06T08:02:24Z</dcterms:created>
  <dcterms:modified xsi:type="dcterms:W3CDTF">2026-05-11T17:35:48Z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0x01010065FDFA1B42CBC04F81756D0E901BD8DA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2023-05-22T08:53:47Z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2c31f2cf-1b01-4661-af17-e54150cf9ecf</vt:lpwstr>
  </property>
  <property fmtid="{D5CDD505-2E9C-101B-9397-08002B2CF9AE}" pid="9" name="MSIP_Label_5b58b62f-6f94-46bd-8089-18e64b0a9abb_ContentBits">
    <vt:lpwstr>0</vt:lpwstr>
  </property>
</Properties>
</file>